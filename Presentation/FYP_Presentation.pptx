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6" r:id="rId3"/>
    <p:sldId id="260" r:id="rId4"/>
    <p:sldId id="258" r:id="rId5"/>
    <p:sldId id="270" r:id="rId6"/>
    <p:sldId id="271" r:id="rId7"/>
    <p:sldId id="272" r:id="rId8"/>
    <p:sldId id="276" r:id="rId9"/>
    <p:sldId id="285" r:id="rId10"/>
    <p:sldId id="273" r:id="rId11"/>
    <p:sldId id="284" r:id="rId12"/>
    <p:sldId id="282" r:id="rId13"/>
    <p:sldId id="274" r:id="rId14"/>
    <p:sldId id="281" r:id="rId15"/>
    <p:sldId id="287" r:id="rId16"/>
    <p:sldId id="275" r:id="rId17"/>
    <p:sldId id="268" r:id="rId18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947ED-A397-478F-A84F-D7B98909979A}" v="350" dt="2026-06-13T11:53:02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724" autoAdjust="0"/>
  </p:normalViewPr>
  <p:slideViewPr>
    <p:cSldViewPr snapToGrid="0" snapToObjects="1">
      <p:cViewPr varScale="1">
        <p:scale>
          <a:sx n="80" d="100"/>
          <a:sy n="80" d="100"/>
        </p:scale>
        <p:origin x="1254" y="3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9F5B3F-CA5F-4B45-8218-96A15A2111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1578DA31-C842-47BC-AD3D-535BD979461B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SAM2 temporal propagation</a:t>
          </a:r>
        </a:p>
      </dgm:t>
    </dgm:pt>
    <dgm:pt modelId="{CACAB04B-1ED4-4D18-9EC4-35A8E0D8CCCB}" type="parTrans" cxnId="{7D76D02C-1487-43BA-95E5-360C4AFE0BDE}">
      <dgm:prSet/>
      <dgm:spPr/>
      <dgm:t>
        <a:bodyPr/>
        <a:lstStyle/>
        <a:p>
          <a:endParaRPr lang="LID4096"/>
        </a:p>
      </dgm:t>
    </dgm:pt>
    <dgm:pt modelId="{572FCA8B-CF56-46FA-A211-D3EB3BEB3E2F}" type="sibTrans" cxnId="{7D76D02C-1487-43BA-95E5-360C4AFE0BD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1E9DF4C-F685-447C-AF10-B1A75F8A7D66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IQR outlier filtering</a:t>
          </a:r>
        </a:p>
      </dgm:t>
    </dgm:pt>
    <dgm:pt modelId="{D5F3F0E1-2DF8-4DBD-860C-5FFE63D4F859}" type="parTrans" cxnId="{F5D0E48C-65B6-4286-A806-940E6E80A748}">
      <dgm:prSet/>
      <dgm:spPr/>
      <dgm:t>
        <a:bodyPr/>
        <a:lstStyle/>
        <a:p>
          <a:endParaRPr lang="LID4096"/>
        </a:p>
      </dgm:t>
    </dgm:pt>
    <dgm:pt modelId="{4E54810E-A3A0-42C6-A9C0-08C64E327999}" type="sibTrans" cxnId="{F5D0E48C-65B6-4286-A806-940E6E80A74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E36E6564-FBEA-4BE2-AE25-AFB9D00C95A4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YOLO26 fine-tuning</a:t>
          </a:r>
        </a:p>
      </dgm:t>
    </dgm:pt>
    <dgm:pt modelId="{57E6F65A-ECA0-4940-80C6-43E63006841A}" type="parTrans" cxnId="{C92BD1ED-86F1-4476-AA5C-40760979EF68}">
      <dgm:prSet/>
      <dgm:spPr/>
      <dgm:t>
        <a:bodyPr/>
        <a:lstStyle/>
        <a:p>
          <a:endParaRPr lang="LID4096"/>
        </a:p>
      </dgm:t>
    </dgm:pt>
    <dgm:pt modelId="{C01FE258-F52E-4B15-8CBE-D7A854458975}" type="sibTrans" cxnId="{C92BD1ED-86F1-4476-AA5C-40760979EF68}">
      <dgm:prSet/>
      <dgm:spPr/>
      <dgm:t>
        <a:bodyPr/>
        <a:lstStyle/>
        <a:p>
          <a:endParaRPr lang="LID4096"/>
        </a:p>
      </dgm:t>
    </dgm:pt>
    <dgm:pt modelId="{AC81EE12-4723-49C4-91A0-4F220135AC22}">
      <dgm:prSet phldrT="[Text]" phldr="0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>
        <a:bodyPr/>
        <a:lstStyle/>
        <a:p>
          <a:r>
            <a:rPr lang="en-GB" noProof="0" dirty="0"/>
            <a:t>Human verification</a:t>
          </a:r>
        </a:p>
      </dgm:t>
    </dgm:pt>
    <dgm:pt modelId="{0D5692A9-0ACE-432B-AA6A-B7536817CD63}" type="parTrans" cxnId="{3BF924DB-20FD-4C7F-9D4E-90568DE097AC}">
      <dgm:prSet/>
      <dgm:spPr/>
      <dgm:t>
        <a:bodyPr/>
        <a:lstStyle/>
        <a:p>
          <a:endParaRPr lang="LID4096"/>
        </a:p>
      </dgm:t>
    </dgm:pt>
    <dgm:pt modelId="{952E52D1-04B5-4040-8775-F9F455F93AAA}" type="sibTrans" cxnId="{3BF924DB-20FD-4C7F-9D4E-90568DE097A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GB" noProof="0" dirty="0"/>
        </a:p>
      </dgm:t>
    </dgm:pt>
    <dgm:pt modelId="{70DF37C0-B02C-4371-9BD2-852B599869E7}" type="pres">
      <dgm:prSet presAssocID="{1E9F5B3F-CA5F-4B45-8218-96A15A21117E}" presName="Name0" presStyleCnt="0">
        <dgm:presLayoutVars>
          <dgm:dir/>
          <dgm:resizeHandles val="exact"/>
        </dgm:presLayoutVars>
      </dgm:prSet>
      <dgm:spPr/>
    </dgm:pt>
    <dgm:pt modelId="{9AD231D6-D033-4C31-8899-395ED68C8844}" type="pres">
      <dgm:prSet presAssocID="{1578DA31-C842-47BC-AD3D-535BD979461B}" presName="node" presStyleLbl="node1" presStyleIdx="0" presStyleCnt="4">
        <dgm:presLayoutVars>
          <dgm:bulletEnabled val="1"/>
        </dgm:presLayoutVars>
      </dgm:prSet>
      <dgm:spPr/>
    </dgm:pt>
    <dgm:pt modelId="{730AFD27-855C-4C02-8256-8F9A0F558CBA}" type="pres">
      <dgm:prSet presAssocID="{572FCA8B-CF56-46FA-A211-D3EB3BEB3E2F}" presName="sibTrans" presStyleLbl="sibTrans2D1" presStyleIdx="0" presStyleCnt="3"/>
      <dgm:spPr/>
    </dgm:pt>
    <dgm:pt modelId="{7E3863EE-8A70-4D48-AA23-5228A80F5C23}" type="pres">
      <dgm:prSet presAssocID="{572FCA8B-CF56-46FA-A211-D3EB3BEB3E2F}" presName="connectorText" presStyleLbl="sibTrans2D1" presStyleIdx="0" presStyleCnt="3"/>
      <dgm:spPr/>
    </dgm:pt>
    <dgm:pt modelId="{5C76565A-2DA6-4563-BA6A-0BC3F829F740}" type="pres">
      <dgm:prSet presAssocID="{71E9DF4C-F685-447C-AF10-B1A75F8A7D66}" presName="node" presStyleLbl="node1" presStyleIdx="1" presStyleCnt="4">
        <dgm:presLayoutVars>
          <dgm:bulletEnabled val="1"/>
        </dgm:presLayoutVars>
      </dgm:prSet>
      <dgm:spPr/>
    </dgm:pt>
    <dgm:pt modelId="{6524ADBE-FE97-4621-83A7-A86C09E75112}" type="pres">
      <dgm:prSet presAssocID="{4E54810E-A3A0-42C6-A9C0-08C64E327999}" presName="sibTrans" presStyleLbl="sibTrans2D1" presStyleIdx="1" presStyleCnt="3"/>
      <dgm:spPr/>
    </dgm:pt>
    <dgm:pt modelId="{6F446B5C-0135-4827-976E-22F6ECBA92C8}" type="pres">
      <dgm:prSet presAssocID="{4E54810E-A3A0-42C6-A9C0-08C64E327999}" presName="connectorText" presStyleLbl="sibTrans2D1" presStyleIdx="1" presStyleCnt="3"/>
      <dgm:spPr/>
    </dgm:pt>
    <dgm:pt modelId="{1B1A2437-4AB2-4C38-A0AD-F703058466D3}" type="pres">
      <dgm:prSet presAssocID="{AC81EE12-4723-49C4-91A0-4F220135AC22}" presName="node" presStyleLbl="node1" presStyleIdx="2" presStyleCnt="4">
        <dgm:presLayoutVars>
          <dgm:bulletEnabled val="1"/>
        </dgm:presLayoutVars>
      </dgm:prSet>
      <dgm:spPr/>
    </dgm:pt>
    <dgm:pt modelId="{CA59B1AF-1E41-427D-B40A-20FCFCB91B8C}" type="pres">
      <dgm:prSet presAssocID="{952E52D1-04B5-4040-8775-F9F455F93AAA}" presName="sibTrans" presStyleLbl="sibTrans2D1" presStyleIdx="2" presStyleCnt="3"/>
      <dgm:spPr/>
    </dgm:pt>
    <dgm:pt modelId="{5E725F67-3968-4ACF-B36F-CAFD841ABEC9}" type="pres">
      <dgm:prSet presAssocID="{952E52D1-04B5-4040-8775-F9F455F93AAA}" presName="connectorText" presStyleLbl="sibTrans2D1" presStyleIdx="2" presStyleCnt="3"/>
      <dgm:spPr/>
    </dgm:pt>
    <dgm:pt modelId="{930FAD6B-FC3D-42B3-84C3-2930374E3AE1}" type="pres">
      <dgm:prSet presAssocID="{E36E6564-FBEA-4BE2-AE25-AFB9D00C95A4}" presName="node" presStyleLbl="node1" presStyleIdx="3" presStyleCnt="4">
        <dgm:presLayoutVars>
          <dgm:bulletEnabled val="1"/>
        </dgm:presLayoutVars>
      </dgm:prSet>
      <dgm:spPr/>
    </dgm:pt>
  </dgm:ptLst>
  <dgm:cxnLst>
    <dgm:cxn modelId="{9963A602-D126-47D2-B372-9CCF8F4560AF}" type="presOf" srcId="{572FCA8B-CF56-46FA-A211-D3EB3BEB3E2F}" destId="{730AFD27-855C-4C02-8256-8F9A0F558CBA}" srcOrd="0" destOrd="0" presId="urn:microsoft.com/office/officeart/2005/8/layout/process1"/>
    <dgm:cxn modelId="{0DBEB702-2343-4C5A-8C31-73428C05608E}" type="presOf" srcId="{E36E6564-FBEA-4BE2-AE25-AFB9D00C95A4}" destId="{930FAD6B-FC3D-42B3-84C3-2930374E3AE1}" srcOrd="0" destOrd="0" presId="urn:microsoft.com/office/officeart/2005/8/layout/process1"/>
    <dgm:cxn modelId="{C2ECF914-D57F-401D-86A1-3D9749253860}" type="presOf" srcId="{4E54810E-A3A0-42C6-A9C0-08C64E327999}" destId="{6F446B5C-0135-4827-976E-22F6ECBA92C8}" srcOrd="1" destOrd="0" presId="urn:microsoft.com/office/officeart/2005/8/layout/process1"/>
    <dgm:cxn modelId="{7D76D02C-1487-43BA-95E5-360C4AFE0BDE}" srcId="{1E9F5B3F-CA5F-4B45-8218-96A15A21117E}" destId="{1578DA31-C842-47BC-AD3D-535BD979461B}" srcOrd="0" destOrd="0" parTransId="{CACAB04B-1ED4-4D18-9EC4-35A8E0D8CCCB}" sibTransId="{572FCA8B-CF56-46FA-A211-D3EB3BEB3E2F}"/>
    <dgm:cxn modelId="{7D37D331-B62C-4FA6-A4D4-488FA96468C1}" type="presOf" srcId="{952E52D1-04B5-4040-8775-F9F455F93AAA}" destId="{5E725F67-3968-4ACF-B36F-CAFD841ABEC9}" srcOrd="1" destOrd="0" presId="urn:microsoft.com/office/officeart/2005/8/layout/process1"/>
    <dgm:cxn modelId="{2E63CA3D-CDDD-4CD5-8A1B-2BAA8F075C8C}" type="presOf" srcId="{4E54810E-A3A0-42C6-A9C0-08C64E327999}" destId="{6524ADBE-FE97-4621-83A7-A86C09E75112}" srcOrd="0" destOrd="0" presId="urn:microsoft.com/office/officeart/2005/8/layout/process1"/>
    <dgm:cxn modelId="{FC5CD25F-0023-47C0-992F-7821F48C3CF6}" type="presOf" srcId="{1E9F5B3F-CA5F-4B45-8218-96A15A21117E}" destId="{70DF37C0-B02C-4371-9BD2-852B599869E7}" srcOrd="0" destOrd="0" presId="urn:microsoft.com/office/officeart/2005/8/layout/process1"/>
    <dgm:cxn modelId="{DEF4E677-31EC-43A3-BC28-715B3BC6E570}" type="presOf" srcId="{952E52D1-04B5-4040-8775-F9F455F93AAA}" destId="{CA59B1AF-1E41-427D-B40A-20FCFCB91B8C}" srcOrd="0" destOrd="0" presId="urn:microsoft.com/office/officeart/2005/8/layout/process1"/>
    <dgm:cxn modelId="{F5D0E48C-65B6-4286-A806-940E6E80A748}" srcId="{1E9F5B3F-CA5F-4B45-8218-96A15A21117E}" destId="{71E9DF4C-F685-447C-AF10-B1A75F8A7D66}" srcOrd="1" destOrd="0" parTransId="{D5F3F0E1-2DF8-4DBD-860C-5FFE63D4F859}" sibTransId="{4E54810E-A3A0-42C6-A9C0-08C64E327999}"/>
    <dgm:cxn modelId="{DA372B93-3334-4DC9-851B-5B012C94521B}" type="presOf" srcId="{AC81EE12-4723-49C4-91A0-4F220135AC22}" destId="{1B1A2437-4AB2-4C38-A0AD-F703058466D3}" srcOrd="0" destOrd="0" presId="urn:microsoft.com/office/officeart/2005/8/layout/process1"/>
    <dgm:cxn modelId="{F7F1CABB-F8CF-4CA4-85F6-76F83B9B9BB0}" type="presOf" srcId="{71E9DF4C-F685-447C-AF10-B1A75F8A7D66}" destId="{5C76565A-2DA6-4563-BA6A-0BC3F829F740}" srcOrd="0" destOrd="0" presId="urn:microsoft.com/office/officeart/2005/8/layout/process1"/>
    <dgm:cxn modelId="{4CB918C0-4976-4ECB-8B65-73724E21069E}" type="presOf" srcId="{572FCA8B-CF56-46FA-A211-D3EB3BEB3E2F}" destId="{7E3863EE-8A70-4D48-AA23-5228A80F5C23}" srcOrd="1" destOrd="0" presId="urn:microsoft.com/office/officeart/2005/8/layout/process1"/>
    <dgm:cxn modelId="{3BF924DB-20FD-4C7F-9D4E-90568DE097AC}" srcId="{1E9F5B3F-CA5F-4B45-8218-96A15A21117E}" destId="{AC81EE12-4723-49C4-91A0-4F220135AC22}" srcOrd="2" destOrd="0" parTransId="{0D5692A9-0ACE-432B-AA6A-B7536817CD63}" sibTransId="{952E52D1-04B5-4040-8775-F9F455F93AAA}"/>
    <dgm:cxn modelId="{338EC3DF-9F1D-48E2-AD5D-3C384DEA4B4C}" type="presOf" srcId="{1578DA31-C842-47BC-AD3D-535BD979461B}" destId="{9AD231D6-D033-4C31-8899-395ED68C8844}" srcOrd="0" destOrd="0" presId="urn:microsoft.com/office/officeart/2005/8/layout/process1"/>
    <dgm:cxn modelId="{C92BD1ED-86F1-4476-AA5C-40760979EF68}" srcId="{1E9F5B3F-CA5F-4B45-8218-96A15A21117E}" destId="{E36E6564-FBEA-4BE2-AE25-AFB9D00C95A4}" srcOrd="3" destOrd="0" parTransId="{57E6F65A-ECA0-4940-80C6-43E63006841A}" sibTransId="{C01FE258-F52E-4B15-8CBE-D7A854458975}"/>
    <dgm:cxn modelId="{64313F8E-F2EC-491F-BFC0-88432DF5E249}" type="presParOf" srcId="{70DF37C0-B02C-4371-9BD2-852B599869E7}" destId="{9AD231D6-D033-4C31-8899-395ED68C8844}" srcOrd="0" destOrd="0" presId="urn:microsoft.com/office/officeart/2005/8/layout/process1"/>
    <dgm:cxn modelId="{2FF3139A-CBB8-4793-9E5A-361FE8AC7518}" type="presParOf" srcId="{70DF37C0-B02C-4371-9BD2-852B599869E7}" destId="{730AFD27-855C-4C02-8256-8F9A0F558CBA}" srcOrd="1" destOrd="0" presId="urn:microsoft.com/office/officeart/2005/8/layout/process1"/>
    <dgm:cxn modelId="{509E8409-F5BC-40B4-9021-2C272E983E40}" type="presParOf" srcId="{730AFD27-855C-4C02-8256-8F9A0F558CBA}" destId="{7E3863EE-8A70-4D48-AA23-5228A80F5C23}" srcOrd="0" destOrd="0" presId="urn:microsoft.com/office/officeart/2005/8/layout/process1"/>
    <dgm:cxn modelId="{5473841F-F954-4156-8CF4-A914B4562EAA}" type="presParOf" srcId="{70DF37C0-B02C-4371-9BD2-852B599869E7}" destId="{5C76565A-2DA6-4563-BA6A-0BC3F829F740}" srcOrd="2" destOrd="0" presId="urn:microsoft.com/office/officeart/2005/8/layout/process1"/>
    <dgm:cxn modelId="{8984AADA-3629-4F3A-AD6C-25EDD756A857}" type="presParOf" srcId="{70DF37C0-B02C-4371-9BD2-852B599869E7}" destId="{6524ADBE-FE97-4621-83A7-A86C09E75112}" srcOrd="3" destOrd="0" presId="urn:microsoft.com/office/officeart/2005/8/layout/process1"/>
    <dgm:cxn modelId="{5FCBEC93-197A-4F23-9D39-1DCE183DB54B}" type="presParOf" srcId="{6524ADBE-FE97-4621-83A7-A86C09E75112}" destId="{6F446B5C-0135-4827-976E-22F6ECBA92C8}" srcOrd="0" destOrd="0" presId="urn:microsoft.com/office/officeart/2005/8/layout/process1"/>
    <dgm:cxn modelId="{42DE9DB6-39DB-4FAC-8253-0408A610B149}" type="presParOf" srcId="{70DF37C0-B02C-4371-9BD2-852B599869E7}" destId="{1B1A2437-4AB2-4C38-A0AD-F703058466D3}" srcOrd="4" destOrd="0" presId="urn:microsoft.com/office/officeart/2005/8/layout/process1"/>
    <dgm:cxn modelId="{C68148D5-09BC-4BF6-B830-E20F9AED5FCC}" type="presParOf" srcId="{70DF37C0-B02C-4371-9BD2-852B599869E7}" destId="{CA59B1AF-1E41-427D-B40A-20FCFCB91B8C}" srcOrd="5" destOrd="0" presId="urn:microsoft.com/office/officeart/2005/8/layout/process1"/>
    <dgm:cxn modelId="{7EC10F92-6E48-420D-9605-ACFFBA232AB8}" type="presParOf" srcId="{CA59B1AF-1E41-427D-B40A-20FCFCB91B8C}" destId="{5E725F67-3968-4ACF-B36F-CAFD841ABEC9}" srcOrd="0" destOrd="0" presId="urn:microsoft.com/office/officeart/2005/8/layout/process1"/>
    <dgm:cxn modelId="{FCB6934E-5B13-4377-9DFE-0C507A8E47C9}" type="presParOf" srcId="{70DF37C0-B02C-4371-9BD2-852B599869E7}" destId="{930FAD6B-FC3D-42B3-84C3-2930374E3A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31D6-D033-4C31-8899-395ED68C8844}">
      <dsp:nvSpPr>
        <dsp:cNvPr id="0" name=""/>
        <dsp:cNvSpPr/>
      </dsp:nvSpPr>
      <dsp:spPr>
        <a:xfrm>
          <a:off x="2540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SAM2 temporal propagation</a:t>
          </a:r>
        </a:p>
      </dsp:txBody>
      <dsp:txXfrm>
        <a:off x="22061" y="261352"/>
        <a:ext cx="1071771" cy="627445"/>
      </dsp:txXfrm>
    </dsp:sp>
    <dsp:sp modelId="{730AFD27-855C-4C02-8256-8F9A0F558CBA}">
      <dsp:nvSpPr>
        <dsp:cNvPr id="0" name=""/>
        <dsp:cNvSpPr/>
      </dsp:nvSpPr>
      <dsp:spPr>
        <a:xfrm>
          <a:off x="1224435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1224435" y="492430"/>
        <a:ext cx="164844" cy="165289"/>
      </dsp:txXfrm>
    </dsp:sp>
    <dsp:sp modelId="{5C76565A-2DA6-4563-BA6A-0BC3F829F740}">
      <dsp:nvSpPr>
        <dsp:cNvPr id="0" name=""/>
        <dsp:cNvSpPr/>
      </dsp:nvSpPr>
      <dsp:spPr>
        <a:xfrm>
          <a:off x="1557679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IQR outlier filtering</a:t>
          </a:r>
        </a:p>
      </dsp:txBody>
      <dsp:txXfrm>
        <a:off x="1577200" y="261352"/>
        <a:ext cx="1071771" cy="627445"/>
      </dsp:txXfrm>
    </dsp:sp>
    <dsp:sp modelId="{6524ADBE-FE97-4621-83A7-A86C09E75112}">
      <dsp:nvSpPr>
        <dsp:cNvPr id="0" name=""/>
        <dsp:cNvSpPr/>
      </dsp:nvSpPr>
      <dsp:spPr>
        <a:xfrm>
          <a:off x="2779573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2779573" y="492430"/>
        <a:ext cx="164844" cy="165289"/>
      </dsp:txXfrm>
    </dsp:sp>
    <dsp:sp modelId="{1B1A2437-4AB2-4C38-A0AD-F703058466D3}">
      <dsp:nvSpPr>
        <dsp:cNvPr id="0" name=""/>
        <dsp:cNvSpPr/>
      </dsp:nvSpPr>
      <dsp:spPr>
        <a:xfrm>
          <a:off x="3112817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Human verification</a:t>
          </a:r>
        </a:p>
      </dsp:txBody>
      <dsp:txXfrm>
        <a:off x="3132338" y="261352"/>
        <a:ext cx="1071771" cy="627445"/>
      </dsp:txXfrm>
    </dsp:sp>
    <dsp:sp modelId="{CA59B1AF-1E41-427D-B40A-20FCFCB91B8C}">
      <dsp:nvSpPr>
        <dsp:cNvPr id="0" name=""/>
        <dsp:cNvSpPr/>
      </dsp:nvSpPr>
      <dsp:spPr>
        <a:xfrm>
          <a:off x="4334712" y="437334"/>
          <a:ext cx="235492" cy="27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noProof="0" dirty="0"/>
        </a:p>
      </dsp:txBody>
      <dsp:txXfrm>
        <a:off x="4334712" y="492430"/>
        <a:ext cx="164844" cy="165289"/>
      </dsp:txXfrm>
    </dsp:sp>
    <dsp:sp modelId="{930FAD6B-FC3D-42B3-84C3-2930374E3AE1}">
      <dsp:nvSpPr>
        <dsp:cNvPr id="0" name=""/>
        <dsp:cNvSpPr/>
      </dsp:nvSpPr>
      <dsp:spPr>
        <a:xfrm>
          <a:off x="4667956" y="241831"/>
          <a:ext cx="1110813" cy="666487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noProof="0" dirty="0"/>
            <a:t>YOLO26 fine-tuning</a:t>
          </a:r>
        </a:p>
      </dsp:txBody>
      <dsp:txXfrm>
        <a:off x="4687477" y="261352"/>
        <a:ext cx="1071771" cy="627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13801-9428-7BC1-7B46-C50BAC8CBA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32661A-133E-8F11-94C6-B0D70AB689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4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E6131-01ED-4558-AFAD-D007DC8FCD31}" type="datetimeFigureOut">
              <a:rPr lang="LID4096" smtClean="0"/>
              <a:t>06/15/2026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DDBDF-F069-5285-8DC1-2EC661CDE9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53961-1763-3E57-191C-F11A6DD6E3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4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9FF3F-97DA-4925-A116-9EBEA1BC5A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9541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95D80-7248-494B-850D-E26817F14E0C}" type="datetimeFigureOut">
              <a:rPr lang="LID4096" smtClean="0"/>
              <a:t>06/15/2026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4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91CF4-0850-4D20-9DB0-19AE2F79B5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354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>
                <a:latin typeface="+mn-lt"/>
              </a:rPr>
              <a:t>Good morning. My name is Daniel Pace, and my project is titled </a:t>
            </a:r>
            <a:r>
              <a:rPr lang="en-GB" sz="1600" b="1" dirty="0">
                <a:latin typeface="+mn-lt"/>
              </a:rPr>
              <a:t>Dynamic Pixel-to-Metre Calibration in Competitive Swimming Using Lane Rope Markers: A Computer Vision Proof of Concept</a:t>
            </a:r>
            <a:r>
              <a:rPr lang="en-GB" sz="1600" b="0" dirty="0">
                <a:latin typeface="+mn-lt"/>
              </a:rPr>
              <a:t>, </a:t>
            </a:r>
            <a:r>
              <a:rPr lang="en-GB" sz="1600" dirty="0">
                <a:latin typeface="+mn-lt"/>
              </a:rPr>
              <a:t>supervised by Prof. Vanessa Camilleri.</a:t>
            </a:r>
          </a:p>
          <a:p>
            <a:endParaRPr lang="en-GB" sz="1600" dirty="0">
              <a:latin typeface="+mn-lt"/>
            </a:endParaRPr>
          </a:p>
          <a:p>
            <a:r>
              <a:rPr lang="en-GB" sz="1600" dirty="0">
                <a:latin typeface="+mn-lt"/>
              </a:rPr>
              <a:t>[30s]</a:t>
            </a:r>
            <a:endParaRPr lang="LID4096" sz="16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8964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53F6-692F-0948-767C-72F6365C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FD7FE-FE2F-A9E2-6029-4F76EE5C4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B4586-62F3-D4EA-3CC1-C96158C55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sz="1600" dirty="0"/>
              <a:t>This is how this presentation has been structured:</a:t>
            </a:r>
          </a:p>
          <a:p>
            <a:endParaRPr lang="" sz="1600" dirty="0"/>
          </a:p>
          <a:p>
            <a:r>
              <a:rPr lang="" sz="1600" dirty="0"/>
              <a:t> I'll start with the </a:t>
            </a:r>
            <a:r>
              <a:rPr lang="" sz="1600" b="1" dirty="0"/>
              <a:t>problem</a:t>
            </a:r>
            <a:r>
              <a:rPr lang="" sz="1600" dirty="0"/>
              <a:t> and </a:t>
            </a:r>
            <a:r>
              <a:rPr lang="" sz="1600" b="1" dirty="0"/>
              <a:t>objectives</a:t>
            </a:r>
            <a:r>
              <a:rPr lang="" sz="1600" dirty="0"/>
              <a:t>, then go deeper into the four main components: </a:t>
            </a:r>
            <a:r>
              <a:rPr lang="" sz="1600" b="1" dirty="0"/>
              <a:t>marker</a:t>
            </a:r>
            <a:r>
              <a:rPr lang="" sz="1600" dirty="0"/>
              <a:t> </a:t>
            </a:r>
            <a:r>
              <a:rPr lang="" sz="1600" b="1" dirty="0"/>
              <a:t>design</a:t>
            </a:r>
            <a:r>
              <a:rPr lang="" sz="1600" dirty="0"/>
              <a:t>, the </a:t>
            </a:r>
            <a:r>
              <a:rPr lang="" sz="1600" b="1" dirty="0"/>
              <a:t>annotation</a:t>
            </a:r>
            <a:r>
              <a:rPr lang="" sz="1600" dirty="0"/>
              <a:t> </a:t>
            </a:r>
            <a:r>
              <a:rPr lang="" sz="1600" b="1" dirty="0"/>
              <a:t>pipeline</a:t>
            </a:r>
            <a:r>
              <a:rPr lang="" sz="1600" dirty="0"/>
              <a:t>, </a:t>
            </a:r>
            <a:r>
              <a:rPr lang="" sz="1600" b="1" dirty="0"/>
              <a:t>scale</a:t>
            </a:r>
            <a:r>
              <a:rPr lang="" sz="1600" dirty="0"/>
              <a:t> </a:t>
            </a:r>
            <a:r>
              <a:rPr lang="" sz="1600" b="1" dirty="0"/>
              <a:t>and</a:t>
            </a:r>
            <a:r>
              <a:rPr lang="" sz="1600" dirty="0"/>
              <a:t> </a:t>
            </a:r>
            <a:r>
              <a:rPr lang="" sz="1600" b="1" dirty="0"/>
              <a:t>kinematic</a:t>
            </a:r>
            <a:r>
              <a:rPr lang="" sz="1600" dirty="0"/>
              <a:t> </a:t>
            </a:r>
            <a:r>
              <a:rPr lang="" sz="1600" b="1" dirty="0"/>
              <a:t>extraction</a:t>
            </a:r>
            <a:r>
              <a:rPr lang="" sz="1600" dirty="0"/>
              <a:t>, and finally the </a:t>
            </a:r>
            <a:r>
              <a:rPr lang="" sz="1600" b="1" dirty="0"/>
              <a:t>evaluation</a:t>
            </a:r>
            <a:r>
              <a:rPr lang="" sz="1600" dirty="0"/>
              <a:t>. I'll close with </a:t>
            </a:r>
            <a:r>
              <a:rPr lang="" sz="1600" b="1" dirty="0"/>
              <a:t>limitations</a:t>
            </a:r>
            <a:r>
              <a:rPr lang="" sz="1600" dirty="0"/>
              <a:t> </a:t>
            </a:r>
            <a:r>
              <a:rPr lang="" sz="1600" b="1" dirty="0"/>
              <a:t>and</a:t>
            </a:r>
            <a:r>
              <a:rPr lang="" sz="1600" dirty="0"/>
              <a:t> </a:t>
            </a:r>
            <a:r>
              <a:rPr lang="" sz="1600" b="1" dirty="0"/>
              <a:t>future</a:t>
            </a:r>
            <a:r>
              <a:rPr lang="" sz="1600" dirty="0"/>
              <a:t> </a:t>
            </a:r>
            <a:r>
              <a:rPr lang="" sz="1600" b="1" dirty="0"/>
              <a:t>work, </a:t>
            </a:r>
            <a:r>
              <a:rPr lang="" sz="1600" dirty="0"/>
              <a:t>finishing with a brief </a:t>
            </a:r>
            <a:r>
              <a:rPr lang="" sz="1600" b="1" dirty="0"/>
              <a:t>conclusion</a:t>
            </a:r>
            <a:r>
              <a:rPr lang="" sz="1600" dirty="0"/>
              <a:t>.</a:t>
            </a:r>
          </a:p>
          <a:p>
            <a:endParaRPr lang="" sz="1600" dirty="0"/>
          </a:p>
          <a:p>
            <a:endParaRPr lang="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</a:rPr>
              <a:t>[1m]</a:t>
            </a:r>
            <a:endParaRPr lang="LID4096" sz="1600" dirty="0">
              <a:latin typeface="+mn-lt"/>
            </a:endParaRPr>
          </a:p>
          <a:p>
            <a:endParaRPr lang="LID4096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2D1AF-8207-CA07-E5C0-DC3914FC9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0106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noProof="0" dirty="0"/>
              <a:t>The problem:</a:t>
            </a:r>
          </a:p>
          <a:p>
            <a:endParaRPr lang="en-GB" sz="1600" b="0" u="none" noProof="0" dirty="0"/>
          </a:p>
          <a:p>
            <a:r>
              <a:rPr lang="en-GB" sz="1600" b="0" u="none" noProof="0" dirty="0"/>
              <a:t>So basically, this project was inspired by a core challenge identified in the SWIM-360 research project, that</a:t>
            </a:r>
            <a:endParaRPr lang="en-GB" sz="1600" b="1" u="sng" noProof="0" dirty="0"/>
          </a:p>
          <a:p>
            <a:r>
              <a:rPr lang="en-GB" sz="1600" b="0" noProof="0" dirty="0"/>
              <a:t>Performance analysis in </a:t>
            </a:r>
            <a:r>
              <a:rPr lang="en-GB" sz="1600" b="1" noProof="0" dirty="0"/>
              <a:t>competitive swimming</a:t>
            </a:r>
            <a:r>
              <a:rPr lang="en-GB" sz="1600" b="0" noProof="0" dirty="0"/>
              <a:t> still relies </a:t>
            </a:r>
            <a:r>
              <a:rPr lang="en-GB" sz="1600" b="1" noProof="0" dirty="0"/>
              <a:t>heavily</a:t>
            </a:r>
            <a:r>
              <a:rPr lang="en-GB" sz="1600" b="0" noProof="0" dirty="0"/>
              <a:t> on manual observation or expensive wearable sensors. </a:t>
            </a:r>
            <a:r>
              <a:rPr lang="en-GB" sz="1600" b="1" noProof="0" dirty="0"/>
              <a:t>Both</a:t>
            </a:r>
            <a:r>
              <a:rPr lang="en-GB" sz="1600" b="0" noProof="0" dirty="0"/>
              <a:t> are </a:t>
            </a:r>
            <a:r>
              <a:rPr lang="en-GB" sz="1600" b="1" noProof="0" dirty="0"/>
              <a:t>intrusive</a:t>
            </a:r>
            <a:r>
              <a:rPr lang="en-GB" sz="1600" b="0" noProof="0" dirty="0"/>
              <a:t> to the athlete and </a:t>
            </a:r>
            <a:r>
              <a:rPr lang="en-GB" sz="1600" b="1" noProof="0" dirty="0"/>
              <a:t>impractical</a:t>
            </a:r>
            <a:r>
              <a:rPr lang="en-GB" sz="1600" b="0" noProof="0" dirty="0"/>
              <a:t> for routine coaching. </a:t>
            </a:r>
          </a:p>
          <a:p>
            <a:endParaRPr lang="en-GB" sz="1600" b="0" noProof="0" dirty="0"/>
          </a:p>
          <a:p>
            <a:r>
              <a:rPr lang="en-GB" sz="1600" b="0" noProof="0" dirty="0"/>
              <a:t>Computer Vision (</a:t>
            </a:r>
            <a:r>
              <a:rPr lang="en-GB" sz="1600" b="1" noProof="0" dirty="0"/>
              <a:t>CV</a:t>
            </a:r>
            <a:r>
              <a:rPr lang="en-GB" sz="1600" b="0" noProof="0" dirty="0"/>
              <a:t>) offers a </a:t>
            </a:r>
            <a:r>
              <a:rPr lang="en-GB" sz="1600" b="1" noProof="0" dirty="0"/>
              <a:t>non-intrusive</a:t>
            </a:r>
            <a:r>
              <a:rPr lang="en-GB" sz="1600" b="0" noProof="0" dirty="0"/>
              <a:t> alternative. </a:t>
            </a:r>
            <a:r>
              <a:rPr lang="en-GB" sz="1600" b="1" noProof="0" dirty="0"/>
              <a:t>But</a:t>
            </a:r>
            <a:r>
              <a:rPr lang="en-GB" sz="1600" b="0" noProof="0" dirty="0"/>
              <a:t> the pool is a </a:t>
            </a:r>
            <a:r>
              <a:rPr lang="en-GB" sz="1600" b="1" noProof="0" dirty="0"/>
              <a:t>very</a:t>
            </a:r>
            <a:r>
              <a:rPr lang="en-GB" sz="1600" b="0" noProof="0" dirty="0"/>
              <a:t> adversarial domain for it.</a:t>
            </a:r>
          </a:p>
          <a:p>
            <a:endParaRPr lang="en-GB" sz="1600" b="0" noProof="0" dirty="0"/>
          </a:p>
          <a:p>
            <a:r>
              <a:rPr lang="en-GB" sz="1600" b="0" noProof="0" dirty="0"/>
              <a:t>The niche this project fills is </a:t>
            </a:r>
            <a:r>
              <a:rPr lang="en-GB" sz="1600" b="1" noProof="0" dirty="0"/>
              <a:t>a standardized, low-cost, unintrusive way to extract metric swimming data from poolside footage</a:t>
            </a:r>
            <a:r>
              <a:rPr lang="en-GB" sz="1600" b="0" noProof="0" dirty="0"/>
              <a:t>.</a:t>
            </a:r>
          </a:p>
          <a:p>
            <a:endParaRPr lang="en-GB" sz="1600" b="0" noProof="0" dirty="0"/>
          </a:p>
          <a:p>
            <a:endParaRPr lang="en-GB" sz="1600" b="0" noProof="0" dirty="0"/>
          </a:p>
          <a:p>
            <a:r>
              <a:rPr lang="en-GB" sz="1600" b="0" noProof="0" dirty="0"/>
              <a:t>[2m]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7049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sz="1600" dirty="0"/>
              <a:t>So the primary </a:t>
            </a:r>
            <a:r>
              <a:rPr lang="" sz="1600" b="1" dirty="0"/>
              <a:t>aim</a:t>
            </a:r>
            <a:r>
              <a:rPr lang="" sz="1600" dirty="0"/>
              <a:t> was to develop a proof-of-concept system for extracting swimming metrics from video. As I covered in the report, while CV research has made progress in detection, segmentation, and pose estimation, </a:t>
            </a:r>
          </a:p>
          <a:p>
            <a:r>
              <a:rPr lang="" sz="1600" dirty="0"/>
              <a:t>annotated underwater datasets are </a:t>
            </a:r>
            <a:r>
              <a:rPr lang="" sz="1600" b="1" dirty="0"/>
              <a:t>very scarce </a:t>
            </a:r>
            <a:r>
              <a:rPr lang="" sz="1600" dirty="0"/>
              <a:t>and no standardised metric extraction system for the aquatic domain exists.</a:t>
            </a:r>
            <a:endParaRPr lang="en-GB" sz="1600" noProof="0" dirty="0"/>
          </a:p>
          <a:p>
            <a:endParaRPr lang="en-GB" sz="1600" noProof="0" dirty="0"/>
          </a:p>
          <a:p>
            <a:r>
              <a:rPr lang="en-GB" sz="1600" noProof="0" dirty="0"/>
              <a:t>So, this project had </a:t>
            </a:r>
            <a:r>
              <a:rPr lang="en-GB" sz="1600" b="1" noProof="0" dirty="0"/>
              <a:t>four</a:t>
            </a:r>
            <a:r>
              <a:rPr lang="en-GB" sz="1600" noProof="0" dirty="0"/>
              <a:t> concrete objectives, to:</a:t>
            </a:r>
          </a:p>
          <a:p>
            <a:endParaRPr lang="en-GB" sz="1600" noProof="0" dirty="0"/>
          </a:p>
          <a:p>
            <a:r>
              <a:rPr lang="en-GB" sz="1600" noProof="0" dirty="0"/>
              <a:t>Design modular underwater calibration markers.</a:t>
            </a:r>
          </a:p>
          <a:p>
            <a:r>
              <a:rPr lang="en-GB" sz="1600" noProof="0" dirty="0"/>
              <a:t>Build an annotated dataset using a </a:t>
            </a:r>
            <a:r>
              <a:rPr lang="en-GB" sz="1600" b="1" noProof="0" dirty="0"/>
              <a:t>Model in the Loop</a:t>
            </a:r>
            <a:r>
              <a:rPr lang="en-GB" sz="1600" noProof="0" dirty="0"/>
              <a:t> approach, because no suitable underwater dataset exists publicly. </a:t>
            </a:r>
          </a:p>
          <a:p>
            <a:r>
              <a:rPr lang="en-GB" sz="1600" noProof="0" dirty="0"/>
              <a:t>Establish a dynamic pixel-to-metre scaling pipeline </a:t>
            </a:r>
            <a:r>
              <a:rPr lang="en-GB" sz="1600" b="1" noProof="0" dirty="0"/>
              <a:t>using</a:t>
            </a:r>
            <a:r>
              <a:rPr lang="en-GB" sz="1600" noProof="0" dirty="0"/>
              <a:t> those markers.</a:t>
            </a:r>
          </a:p>
          <a:p>
            <a:r>
              <a:rPr lang="en-GB" sz="1600" noProof="0" dirty="0"/>
              <a:t>And</a:t>
            </a:r>
          </a:p>
          <a:p>
            <a:r>
              <a:rPr lang="en-GB" sz="1600" noProof="0" dirty="0"/>
              <a:t>To extract meaningful kinematic outputs – more specifically the </a:t>
            </a:r>
            <a:r>
              <a:rPr lang="en-GB" sz="1600" b="0" noProof="0" dirty="0"/>
              <a:t>swimmer’s</a:t>
            </a:r>
            <a:r>
              <a:rPr lang="en-GB" sz="1600" b="1" noProof="0" dirty="0"/>
              <a:t> velocity </a:t>
            </a:r>
            <a:r>
              <a:rPr lang="en-GB" sz="1600" noProof="0" dirty="0"/>
              <a:t>and </a:t>
            </a:r>
            <a:r>
              <a:rPr lang="en-GB" sz="1600" b="1" noProof="0" dirty="0"/>
              <a:t>trajectory</a:t>
            </a:r>
            <a:r>
              <a:rPr lang="en-GB" sz="1600" noProof="0" dirty="0"/>
              <a:t>.</a:t>
            </a:r>
          </a:p>
          <a:p>
            <a:endParaRPr lang="en-GB" sz="1600" noProof="0" dirty="0"/>
          </a:p>
          <a:p>
            <a:r>
              <a:rPr lang="en-GB" sz="1600" noProof="0" dirty="0"/>
              <a:t>These four objectives </a:t>
            </a:r>
            <a:r>
              <a:rPr lang="en-GB" sz="1600" b="1" noProof="0" dirty="0"/>
              <a:t>map directly </a:t>
            </a:r>
            <a:r>
              <a:rPr lang="en-GB" sz="1600" noProof="0" dirty="0"/>
              <a:t>to the four technical components we’ll go through now;</a:t>
            </a:r>
          </a:p>
          <a:p>
            <a:endParaRPr lang="en-GB" sz="1600" noProof="0" dirty="0"/>
          </a:p>
          <a:p>
            <a:endParaRPr lang="en-GB" sz="16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noProof="0" dirty="0"/>
              <a:t>[3m]</a:t>
            </a:r>
          </a:p>
          <a:p>
            <a:endParaRPr lang="en-GB" sz="16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5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dirty="0"/>
              <a:t>Okay, </a:t>
            </a:r>
            <a:r>
              <a:rPr lang="fr-FR" sz="1600" dirty="0" err="1"/>
              <a:t>so</a:t>
            </a:r>
            <a:r>
              <a:rPr lang="fr-FR" sz="1600" dirty="0"/>
              <a:t> </a:t>
            </a:r>
            <a:r>
              <a:rPr lang="fr-FR" sz="1600" dirty="0" err="1"/>
              <a:t>here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the marker in use. </a:t>
            </a:r>
          </a:p>
          <a:p>
            <a:endParaRPr lang="fr-FR" sz="1600" dirty="0"/>
          </a:p>
          <a:p>
            <a:r>
              <a:rPr lang="fr-FR" sz="1600" dirty="0" err="1"/>
              <a:t>Its</a:t>
            </a:r>
            <a:r>
              <a:rPr lang="fr-FR" sz="1600" dirty="0"/>
              <a:t> a custom 3D-printed </a:t>
            </a:r>
            <a:r>
              <a:rPr lang="fr-FR" sz="1600" dirty="0" err="1"/>
              <a:t>cylinder</a:t>
            </a:r>
            <a:r>
              <a:rPr lang="fr-FR" sz="1600" dirty="0"/>
              <a:t> (</a:t>
            </a:r>
            <a:r>
              <a:rPr lang="fr-FR" sz="1600" b="1" dirty="0" err="1"/>
              <a:t>which</a:t>
            </a:r>
            <a:r>
              <a:rPr lang="fr-FR" sz="1600" b="1" dirty="0"/>
              <a:t> I </a:t>
            </a:r>
            <a:r>
              <a:rPr lang="fr-FR" sz="1600" b="1" dirty="0" err="1"/>
              <a:t>designed</a:t>
            </a:r>
            <a:r>
              <a:rPr lang="fr-FR" sz="1600" b="1" dirty="0"/>
              <a:t> </a:t>
            </a:r>
            <a:r>
              <a:rPr lang="fr-FR" sz="1600" b="1" dirty="0" err="1"/>
              <a:t>myself</a:t>
            </a:r>
            <a:r>
              <a:rPr lang="fr-FR" sz="1600" dirty="0"/>
              <a:t>),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alternating</a:t>
            </a:r>
            <a:r>
              <a:rPr lang="fr-FR" sz="1600" dirty="0"/>
              <a:t> black and white segments.</a:t>
            </a:r>
          </a:p>
          <a:p>
            <a:endParaRPr lang="fr-FR" sz="1600" dirty="0"/>
          </a:p>
          <a:p>
            <a:r>
              <a:rPr lang="fr-FR" sz="1600" dirty="0"/>
              <a:t>Off-the-shelf </a:t>
            </a:r>
            <a:r>
              <a:rPr lang="fr-FR" sz="1600" dirty="0" err="1"/>
              <a:t>targets</a:t>
            </a:r>
            <a:r>
              <a:rPr lang="fr-FR" sz="1600" dirty="0"/>
              <a:t> like </a:t>
            </a:r>
            <a:r>
              <a:rPr lang="fr-FR" sz="1600" dirty="0" err="1"/>
              <a:t>chequerboards</a:t>
            </a:r>
            <a:r>
              <a:rPr lang="fr-FR" sz="1600" dirty="0"/>
              <a:t> and </a:t>
            </a:r>
            <a:r>
              <a:rPr lang="fr-FR" sz="1600" dirty="0" err="1"/>
              <a:t>aruco</a:t>
            </a:r>
            <a:r>
              <a:rPr lang="fr-FR" sz="1600" dirty="0"/>
              <a:t> markers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b="1" dirty="0" err="1"/>
              <a:t>considered</a:t>
            </a:r>
            <a:r>
              <a:rPr lang="fr-FR" sz="1600" dirty="0"/>
              <a:t> and </a:t>
            </a:r>
            <a:r>
              <a:rPr lang="fr-FR" sz="1600" dirty="0" err="1"/>
              <a:t>ruled</a:t>
            </a:r>
            <a:r>
              <a:rPr lang="fr-FR" sz="1600" dirty="0"/>
              <a:t> out, as at oblique angles </a:t>
            </a:r>
            <a:r>
              <a:rPr lang="fr-FR" sz="1600" dirty="0" err="1"/>
              <a:t>their</a:t>
            </a:r>
            <a:r>
              <a:rPr lang="fr-FR" sz="1600" dirty="0"/>
              <a:t> corner </a:t>
            </a:r>
            <a:r>
              <a:rPr lang="fr-FR" sz="1600" dirty="0" err="1"/>
              <a:t>features</a:t>
            </a:r>
            <a:r>
              <a:rPr lang="fr-FR" sz="1600" dirty="0"/>
              <a:t> </a:t>
            </a:r>
            <a:r>
              <a:rPr lang="fr-FR" sz="1600" dirty="0" err="1"/>
              <a:t>become</a:t>
            </a:r>
            <a:r>
              <a:rPr lang="fr-FR" sz="1600" dirty="0"/>
              <a:t> </a:t>
            </a:r>
            <a:r>
              <a:rPr lang="fr-FR" sz="1600" b="1" dirty="0" err="1"/>
              <a:t>unreliable</a:t>
            </a:r>
            <a:r>
              <a:rPr lang="fr-FR" sz="1600" dirty="0"/>
              <a:t>, and no </a:t>
            </a:r>
            <a:r>
              <a:rPr lang="fr-FR" sz="1600" dirty="0" err="1"/>
              <a:t>other</a:t>
            </a:r>
            <a:r>
              <a:rPr lang="fr-FR" sz="1600" dirty="0"/>
              <a:t> waterproof solution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commercially</a:t>
            </a:r>
            <a:r>
              <a:rPr lang="fr-FR" sz="1600" dirty="0"/>
              <a:t> </a:t>
            </a:r>
            <a:r>
              <a:rPr lang="fr-FR" sz="1600" dirty="0" err="1"/>
              <a:t>available</a:t>
            </a:r>
            <a:r>
              <a:rPr lang="fr-FR" sz="1600" dirty="0"/>
              <a:t>. </a:t>
            </a:r>
          </a:p>
          <a:p>
            <a:endParaRPr lang="fr-FR" sz="1600" dirty="0"/>
          </a:p>
          <a:p>
            <a:r>
              <a:rPr lang="fr-FR" sz="1600" dirty="0"/>
              <a:t>The </a:t>
            </a:r>
            <a:r>
              <a:rPr lang="fr-FR" sz="1600" dirty="0" err="1"/>
              <a:t>cylindrical</a:t>
            </a:r>
            <a:r>
              <a:rPr lang="fr-FR" sz="1600" dirty="0"/>
              <a:t> </a:t>
            </a:r>
            <a:r>
              <a:rPr lang="fr-FR" sz="1600" dirty="0" err="1"/>
              <a:t>form</a:t>
            </a:r>
            <a:r>
              <a:rPr lang="fr-FR" sz="1600" dirty="0"/>
              <a:t> </a:t>
            </a:r>
            <a:r>
              <a:rPr lang="fr-FR" sz="1600" dirty="0" err="1"/>
              <a:t>means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</a:t>
            </a:r>
            <a:r>
              <a:rPr lang="fr-FR" sz="1600" dirty="0" err="1"/>
              <a:t>its</a:t>
            </a:r>
            <a:r>
              <a:rPr lang="fr-FR" sz="1600" dirty="0"/>
              <a:t> </a:t>
            </a:r>
            <a:r>
              <a:rPr lang="fr-FR" sz="1600" dirty="0" err="1"/>
              <a:t>shape</a:t>
            </a:r>
            <a:r>
              <a:rPr lang="fr-FR" sz="1600" dirty="0"/>
              <a:t> </a:t>
            </a:r>
            <a:r>
              <a:rPr lang="fr-FR" sz="1600" dirty="0" err="1"/>
              <a:t>remains</a:t>
            </a:r>
            <a:r>
              <a:rPr lang="fr-FR" sz="1600" dirty="0"/>
              <a:t> </a:t>
            </a:r>
            <a:r>
              <a:rPr lang="fr-FR" sz="1600" b="1" dirty="0"/>
              <a:t>consistent</a:t>
            </a:r>
            <a:r>
              <a:rPr lang="fr-FR" sz="1600" dirty="0"/>
              <a:t> </a:t>
            </a:r>
            <a:r>
              <a:rPr lang="fr-FR" sz="1600" dirty="0" err="1"/>
              <a:t>from</a:t>
            </a:r>
            <a:r>
              <a:rPr lang="fr-FR" sz="1600" dirty="0"/>
              <a:t> </a:t>
            </a:r>
            <a:r>
              <a:rPr lang="fr-FR" sz="1600" dirty="0" err="1"/>
              <a:t>any</a:t>
            </a:r>
            <a:r>
              <a:rPr lang="fr-FR" sz="1600" dirty="0"/>
              <a:t> horizontal angle. </a:t>
            </a:r>
          </a:p>
          <a:p>
            <a:r>
              <a:rPr lang="fr-FR" sz="1600" dirty="0"/>
              <a:t>The black and white alternation </a:t>
            </a:r>
            <a:r>
              <a:rPr lang="fr-FR" sz="1600" dirty="0" err="1"/>
              <a:t>maximizes</a:t>
            </a:r>
            <a:r>
              <a:rPr lang="fr-FR" sz="1600" dirty="0"/>
              <a:t> </a:t>
            </a:r>
            <a:r>
              <a:rPr lang="fr-FR" sz="1600" dirty="0" err="1"/>
              <a:t>difference</a:t>
            </a:r>
            <a:r>
              <a:rPr lang="fr-FR" sz="1600" dirty="0"/>
              <a:t> in </a:t>
            </a:r>
            <a:r>
              <a:rPr lang="fr-FR" sz="1600" b="1" dirty="0" err="1"/>
              <a:t>specifically</a:t>
            </a:r>
            <a:r>
              <a:rPr lang="fr-FR" sz="1600" b="1" dirty="0"/>
              <a:t> luminance </a:t>
            </a:r>
            <a:r>
              <a:rPr lang="fr-FR" sz="1600" dirty="0"/>
              <a:t>and not </a:t>
            </a:r>
            <a:r>
              <a:rPr lang="fr-FR" sz="1600" dirty="0" err="1"/>
              <a:t>colour</a:t>
            </a:r>
            <a:r>
              <a:rPr lang="fr-FR" sz="1600" dirty="0"/>
              <a:t>, </a:t>
            </a:r>
            <a:r>
              <a:rPr lang="fr-FR" sz="1600" dirty="0" err="1"/>
              <a:t>since</a:t>
            </a:r>
            <a:r>
              <a:rPr lang="fr-FR" sz="1600" dirty="0"/>
              <a:t> water </a:t>
            </a:r>
            <a:r>
              <a:rPr lang="fr-FR" sz="1600" dirty="0" err="1"/>
              <a:t>absorbs</a:t>
            </a:r>
            <a:r>
              <a:rPr lang="fr-FR" sz="1600" dirty="0"/>
              <a:t> </a:t>
            </a:r>
            <a:r>
              <a:rPr lang="fr-FR" sz="1600" dirty="0" err="1"/>
              <a:t>red</a:t>
            </a:r>
            <a:r>
              <a:rPr lang="fr-FR" sz="1600" dirty="0"/>
              <a:t> </a:t>
            </a:r>
            <a:r>
              <a:rPr lang="fr-FR" sz="1600" dirty="0" err="1"/>
              <a:t>wavelengths</a:t>
            </a:r>
            <a:r>
              <a:rPr lang="fr-FR" sz="1600" dirty="0"/>
              <a:t> </a:t>
            </a:r>
            <a:r>
              <a:rPr lang="fr-FR" sz="1600" dirty="0" err="1"/>
              <a:t>within</a:t>
            </a:r>
            <a:r>
              <a:rPr lang="fr-FR" sz="1600" dirty="0"/>
              <a:t> a few </a:t>
            </a:r>
            <a:r>
              <a:rPr lang="fr-FR" sz="1600" dirty="0" err="1"/>
              <a:t>metres</a:t>
            </a:r>
            <a:r>
              <a:rPr lang="fr-FR" sz="1600" dirty="0"/>
              <a:t>, </a:t>
            </a:r>
            <a:r>
              <a:rPr lang="fr-FR" sz="1600" b="1" dirty="0" err="1"/>
              <a:t>reducing</a:t>
            </a:r>
            <a:r>
              <a:rPr lang="fr-FR" sz="1600" b="1" dirty="0"/>
              <a:t> </a:t>
            </a:r>
            <a:r>
              <a:rPr lang="fr-FR" sz="1600" b="1" dirty="0" err="1"/>
              <a:t>colour</a:t>
            </a:r>
            <a:r>
              <a:rPr lang="fr-FR" sz="1600" b="1" dirty="0"/>
              <a:t> </a:t>
            </a:r>
            <a:r>
              <a:rPr lang="fr-FR" sz="1600" b="1" dirty="0" err="1"/>
              <a:t>contrast</a:t>
            </a:r>
            <a:r>
              <a:rPr lang="fr-FR" sz="1600" dirty="0"/>
              <a:t>. </a:t>
            </a:r>
          </a:p>
          <a:p>
            <a:r>
              <a:rPr lang="fr-FR" sz="1600" dirty="0" err="1"/>
              <a:t>Each</a:t>
            </a:r>
            <a:r>
              <a:rPr lang="fr-FR" sz="1600" dirty="0"/>
              <a:t> segment </a:t>
            </a:r>
            <a:r>
              <a:rPr lang="fr-FR" sz="1600" dirty="0" err="1"/>
              <a:t>is</a:t>
            </a:r>
            <a:r>
              <a:rPr lang="fr-FR" sz="1600" dirty="0"/>
              <a:t> 5cm </a:t>
            </a:r>
            <a:r>
              <a:rPr lang="fr-FR" sz="1600" dirty="0" err="1"/>
              <a:t>wide</a:t>
            </a:r>
            <a:r>
              <a:rPr lang="fr-FR" sz="1600" dirty="0"/>
              <a:t> by 10cm </a:t>
            </a:r>
            <a:r>
              <a:rPr lang="fr-FR" sz="1600" dirty="0" err="1"/>
              <a:t>tall</a:t>
            </a:r>
            <a:r>
              <a:rPr lang="fr-FR" sz="1600" dirty="0"/>
              <a:t>, </a:t>
            </a:r>
            <a:r>
              <a:rPr lang="fr-FR" sz="1600" dirty="0" err="1"/>
              <a:t>stacked</a:t>
            </a:r>
            <a:r>
              <a:rPr lang="fr-FR" sz="1600" dirty="0"/>
              <a:t> 6 times </a:t>
            </a:r>
            <a:r>
              <a:rPr lang="fr-FR" sz="1600" dirty="0" err="1"/>
              <a:t>resulting</a:t>
            </a:r>
            <a:r>
              <a:rPr lang="fr-FR" sz="1600" dirty="0"/>
              <a:t> in a final marker size of 5 by 60cm.</a:t>
            </a:r>
          </a:p>
          <a:p>
            <a:r>
              <a:rPr lang="fr-FR" sz="1600" dirty="0" err="1"/>
              <a:t>These</a:t>
            </a:r>
            <a:r>
              <a:rPr lang="fr-FR" sz="1600" dirty="0"/>
              <a:t>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dirty="0" err="1"/>
              <a:t>spaced</a:t>
            </a:r>
            <a:r>
              <a:rPr lang="fr-FR" sz="1600" dirty="0"/>
              <a:t> out </a:t>
            </a:r>
            <a:r>
              <a:rPr lang="fr-FR" sz="1600" dirty="0" err="1"/>
              <a:t>every</a:t>
            </a:r>
            <a:r>
              <a:rPr lang="fr-FR" sz="1600" dirty="0"/>
              <a:t> 2.5m, </a:t>
            </a:r>
            <a:r>
              <a:rPr lang="fr-FR" sz="1600" dirty="0" err="1"/>
              <a:t>since</a:t>
            </a:r>
            <a:r>
              <a:rPr lang="fr-FR" sz="1600" dirty="0"/>
              <a:t> </a:t>
            </a:r>
            <a:r>
              <a:rPr lang="fr-FR" sz="1600" dirty="0" err="1"/>
              <a:t>from</a:t>
            </a:r>
            <a:r>
              <a:rPr lang="fr-FR" sz="1600" dirty="0"/>
              <a:t> </a:t>
            </a:r>
            <a:r>
              <a:rPr lang="fr-FR" sz="1600" dirty="0" err="1"/>
              <a:t>testing</a:t>
            </a:r>
            <a:r>
              <a:rPr lang="fr-FR" sz="1600" dirty="0"/>
              <a:t>, </a:t>
            </a:r>
            <a:r>
              <a:rPr lang="fr-FR" sz="1600" dirty="0" err="1"/>
              <a:t>wider</a:t>
            </a:r>
            <a:r>
              <a:rPr lang="fr-FR" sz="1600" dirty="0"/>
              <a:t> </a:t>
            </a:r>
            <a:r>
              <a:rPr lang="fr-FR" sz="1600" dirty="0" err="1"/>
              <a:t>spacing</a:t>
            </a:r>
            <a:r>
              <a:rPr lang="fr-FR" sz="1600" dirty="0"/>
              <a:t> </a:t>
            </a:r>
            <a:r>
              <a:rPr lang="fr-FR" sz="1600" dirty="0" err="1"/>
              <a:t>led</a:t>
            </a:r>
            <a:r>
              <a:rPr lang="fr-FR" sz="1600" dirty="0"/>
              <a:t> to large </a:t>
            </a:r>
            <a:r>
              <a:rPr lang="fr-FR" sz="1600" dirty="0" err="1"/>
              <a:t>periods</a:t>
            </a:r>
            <a:r>
              <a:rPr lang="fr-FR" sz="1600" dirty="0"/>
              <a:t> of </a:t>
            </a:r>
            <a:r>
              <a:rPr lang="fr-FR" sz="1600" dirty="0" err="1"/>
              <a:t>only</a:t>
            </a:r>
            <a:r>
              <a:rPr lang="fr-FR" sz="1600" dirty="0"/>
              <a:t> one marker, </a:t>
            </a:r>
            <a:r>
              <a:rPr lang="fr-FR" sz="1600" dirty="0" err="1"/>
              <a:t>where</a:t>
            </a:r>
            <a:r>
              <a:rPr lang="fr-FR" sz="1600" dirty="0"/>
              <a:t> </a:t>
            </a:r>
            <a:r>
              <a:rPr lang="fr-FR" sz="1600" dirty="0" err="1"/>
              <a:t>scale</a:t>
            </a:r>
            <a:r>
              <a:rPr lang="fr-FR" sz="1600" dirty="0"/>
              <a:t> </a:t>
            </a:r>
            <a:r>
              <a:rPr lang="fr-FR" sz="1600" dirty="0" err="1"/>
              <a:t>cannot</a:t>
            </a:r>
            <a:r>
              <a:rPr lang="fr-FR" sz="1600" dirty="0"/>
              <a:t>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calculated</a:t>
            </a:r>
            <a:r>
              <a:rPr lang="fr-FR" sz="1600" dirty="0"/>
              <a:t>, and </a:t>
            </a:r>
            <a:r>
              <a:rPr lang="fr-FR" sz="1600" dirty="0" err="1"/>
              <a:t>any</a:t>
            </a:r>
            <a:r>
              <a:rPr lang="fr-FR" sz="1600" dirty="0"/>
              <a:t> </a:t>
            </a:r>
            <a:r>
              <a:rPr lang="fr-FR" sz="1600" dirty="0" err="1"/>
              <a:t>closer</a:t>
            </a:r>
            <a:r>
              <a:rPr lang="fr-FR" sz="1600" dirty="0"/>
              <a:t> made setup time and effort </a:t>
            </a:r>
            <a:r>
              <a:rPr lang="fr-FR" sz="1600" dirty="0" err="1"/>
              <a:t>impractical</a:t>
            </a:r>
            <a:r>
              <a:rPr lang="fr-FR" sz="1600" dirty="0"/>
              <a:t>. </a:t>
            </a:r>
          </a:p>
          <a:p>
            <a:endParaRPr lang="fr-FR" sz="1600" dirty="0"/>
          </a:p>
          <a:p>
            <a:endParaRPr lang="fr-FR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noProof="0" dirty="0"/>
              <a:t>[4m]</a:t>
            </a:r>
          </a:p>
          <a:p>
            <a:endParaRPr lang="LID4096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1727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dirty="0"/>
              <a:t>In </a:t>
            </a:r>
            <a:r>
              <a:rPr lang="fr-FR" sz="1600" dirty="0" err="1"/>
              <a:t>order</a:t>
            </a:r>
            <a:r>
              <a:rPr lang="fr-FR" sz="1600" dirty="0"/>
              <a:t> to fine-tune a marker detector, </a:t>
            </a:r>
            <a:r>
              <a:rPr lang="fr-FR" sz="1600" dirty="0" err="1"/>
              <a:t>labelled</a:t>
            </a:r>
            <a:r>
              <a:rPr lang="fr-FR" sz="1600" dirty="0"/>
              <a:t> data </a:t>
            </a:r>
            <a:r>
              <a:rPr lang="fr-FR" sz="1600" dirty="0" err="1"/>
              <a:t>was</a:t>
            </a:r>
            <a:r>
              <a:rPr lang="fr-FR" sz="1600" dirty="0"/>
              <a:t> </a:t>
            </a:r>
            <a:r>
              <a:rPr lang="fr-FR" sz="1600" dirty="0" err="1"/>
              <a:t>required</a:t>
            </a:r>
            <a:r>
              <a:rPr lang="fr-FR" sz="1600" dirty="0"/>
              <a:t>. </a:t>
            </a:r>
            <a:r>
              <a:rPr lang="fr-FR" sz="1600" b="1" dirty="0"/>
              <a:t>But none </a:t>
            </a:r>
            <a:r>
              <a:rPr lang="fr-FR" sz="1600" b="1" dirty="0" err="1"/>
              <a:t>existed</a:t>
            </a:r>
            <a:r>
              <a:rPr lang="fr-FR" sz="1600" b="1" dirty="0"/>
              <a:t>.</a:t>
            </a:r>
            <a:r>
              <a:rPr lang="fr-FR" sz="1600" dirty="0"/>
              <a:t> </a:t>
            </a:r>
          </a:p>
          <a:p>
            <a:r>
              <a:rPr lang="fr-FR" sz="1600" dirty="0"/>
              <a:t>Manual annotation at 120 frames per second </a:t>
            </a:r>
            <a:r>
              <a:rPr lang="fr-FR" sz="1600" dirty="0" err="1"/>
              <a:t>was</a:t>
            </a:r>
            <a:r>
              <a:rPr lang="fr-FR" sz="1600" dirty="0"/>
              <a:t> </a:t>
            </a:r>
            <a:r>
              <a:rPr lang="fr-FR" sz="1600" dirty="0" err="1"/>
              <a:t>deemed</a:t>
            </a:r>
            <a:r>
              <a:rPr lang="fr-FR" sz="1600" dirty="0"/>
              <a:t> </a:t>
            </a:r>
            <a:r>
              <a:rPr lang="fr-FR" sz="1600" b="1" dirty="0" err="1"/>
              <a:t>intractable</a:t>
            </a:r>
            <a:r>
              <a:rPr lang="fr-FR" sz="1600" dirty="0"/>
              <a:t>, </a:t>
            </a:r>
            <a:r>
              <a:rPr lang="fr-FR" sz="1600" dirty="0" err="1"/>
              <a:t>since</a:t>
            </a:r>
            <a:r>
              <a:rPr lang="fr-FR" sz="1600" dirty="0"/>
              <a:t> a single clip </a:t>
            </a:r>
            <a:r>
              <a:rPr lang="fr-FR" sz="1600" dirty="0" err="1"/>
              <a:t>contained</a:t>
            </a:r>
            <a:r>
              <a:rPr lang="fr-FR" sz="1600" dirty="0"/>
              <a:t> </a:t>
            </a:r>
            <a:r>
              <a:rPr lang="fr-FR" sz="1600" b="1" dirty="0" err="1"/>
              <a:t>thousands</a:t>
            </a:r>
            <a:r>
              <a:rPr lang="fr-FR" sz="1600" b="1" dirty="0"/>
              <a:t> of frames</a:t>
            </a:r>
            <a:r>
              <a:rPr lang="fr-FR" sz="1600" dirty="0"/>
              <a:t>. </a:t>
            </a:r>
          </a:p>
          <a:p>
            <a:endParaRPr lang="fr-FR" sz="1600" dirty="0"/>
          </a:p>
          <a:p>
            <a:r>
              <a:rPr lang="fr-FR" sz="1600" dirty="0" err="1"/>
              <a:t>My</a:t>
            </a:r>
            <a:r>
              <a:rPr lang="fr-FR" sz="1600" dirty="0"/>
              <a:t> solution </a:t>
            </a:r>
            <a:r>
              <a:rPr lang="fr-FR" sz="1600" dirty="0" err="1"/>
              <a:t>was</a:t>
            </a:r>
            <a:r>
              <a:rPr lang="fr-FR" sz="1600" dirty="0"/>
              <a:t> a </a:t>
            </a:r>
            <a:r>
              <a:rPr lang="fr-FR" sz="1600" b="1" dirty="0"/>
              <a:t>model in the </a:t>
            </a:r>
            <a:r>
              <a:rPr lang="fr-FR" sz="1600" b="1" dirty="0" err="1"/>
              <a:t>loop</a:t>
            </a:r>
            <a:r>
              <a:rPr lang="fr-FR" sz="1600" dirty="0"/>
              <a:t> pipeline. I </a:t>
            </a:r>
            <a:r>
              <a:rPr lang="fr-FR" sz="1600" dirty="0" err="1"/>
              <a:t>used</a:t>
            </a:r>
            <a:r>
              <a:rPr lang="fr-FR" sz="1600" dirty="0"/>
              <a:t> </a:t>
            </a:r>
            <a:r>
              <a:rPr lang="fr-FR" sz="1600" dirty="0" err="1"/>
              <a:t>meta’s</a:t>
            </a:r>
            <a:r>
              <a:rPr lang="fr-FR" sz="1600" dirty="0"/>
              <a:t> segment </a:t>
            </a:r>
            <a:r>
              <a:rPr lang="fr-FR" sz="1600" dirty="0" err="1"/>
              <a:t>anything</a:t>
            </a:r>
            <a:r>
              <a:rPr lang="fr-FR" sz="1600" dirty="0"/>
              <a:t> model 2 (</a:t>
            </a:r>
            <a:r>
              <a:rPr lang="fr-FR" sz="1600" b="1" dirty="0"/>
              <a:t>SAM2</a:t>
            </a:r>
            <a:r>
              <a:rPr lang="fr-FR" sz="1600" b="0" dirty="0"/>
              <a:t>)</a:t>
            </a:r>
            <a:r>
              <a:rPr lang="fr-FR" sz="1600" dirty="0"/>
              <a:t> to </a:t>
            </a:r>
            <a:r>
              <a:rPr lang="fr-FR" sz="1600" dirty="0" err="1"/>
              <a:t>propogate</a:t>
            </a:r>
            <a:r>
              <a:rPr lang="fr-FR" sz="1600" dirty="0"/>
              <a:t> </a:t>
            </a:r>
            <a:r>
              <a:rPr lang="fr-FR" sz="1600" dirty="0" err="1"/>
              <a:t>bounding</a:t>
            </a:r>
            <a:r>
              <a:rPr lang="fr-FR" sz="1600" dirty="0"/>
              <a:t> boxes </a:t>
            </a:r>
            <a:r>
              <a:rPr lang="fr-FR" sz="1600" dirty="0" err="1"/>
              <a:t>throughout</a:t>
            </a:r>
            <a:r>
              <a:rPr lang="fr-FR" sz="1600" dirty="0"/>
              <a:t> the </a:t>
            </a:r>
            <a:r>
              <a:rPr lang="fr-FR" sz="1600" dirty="0" err="1"/>
              <a:t>video</a:t>
            </a:r>
            <a:r>
              <a:rPr lang="fr-FR" sz="1600" dirty="0"/>
              <a:t> frames,</a:t>
            </a:r>
            <a:r>
              <a:rPr lang="fr-FR" sz="1600" b="0" dirty="0"/>
              <a:t> </a:t>
            </a:r>
          </a:p>
          <a:p>
            <a:r>
              <a:rPr lang="fr-FR" sz="1600" b="0" dirty="0" err="1"/>
              <a:t>based</a:t>
            </a:r>
            <a:r>
              <a:rPr lang="fr-FR" sz="1600" b="0" dirty="0"/>
              <a:t> on </a:t>
            </a:r>
            <a:r>
              <a:rPr lang="fr-FR" sz="1600" b="0" dirty="0" err="1"/>
              <a:t>manual</a:t>
            </a:r>
            <a:r>
              <a:rPr lang="fr-FR" sz="1600" b="0" dirty="0"/>
              <a:t> prompts, and </a:t>
            </a:r>
            <a:r>
              <a:rPr lang="fr-FR" sz="1600" b="0" dirty="0" err="1"/>
              <a:t>processed</a:t>
            </a:r>
            <a:r>
              <a:rPr lang="fr-FR" sz="1600" b="0" dirty="0"/>
              <a:t> in </a:t>
            </a:r>
            <a:r>
              <a:rPr lang="fr-FR" sz="1600" b="0" dirty="0" err="1"/>
              <a:t>chunks</a:t>
            </a:r>
            <a:r>
              <a:rPr lang="fr-FR" sz="1600" b="0" dirty="0"/>
              <a:t> to </a:t>
            </a:r>
            <a:r>
              <a:rPr lang="fr-FR" sz="1600" b="0" dirty="0" err="1"/>
              <a:t>avoid</a:t>
            </a:r>
            <a:r>
              <a:rPr lang="fr-FR" sz="1600" b="0" dirty="0"/>
              <a:t> drift </a:t>
            </a:r>
            <a:r>
              <a:rPr lang="fr-FR" sz="1600" b="0" dirty="0" err="1"/>
              <a:t>when</a:t>
            </a:r>
            <a:r>
              <a:rPr lang="fr-FR" sz="1600" b="0" dirty="0"/>
              <a:t> markers </a:t>
            </a:r>
            <a:r>
              <a:rPr lang="fr-FR" sz="1600" b="0" dirty="0" err="1"/>
              <a:t>left</a:t>
            </a:r>
            <a:r>
              <a:rPr lang="fr-FR" sz="1600" b="0" dirty="0"/>
              <a:t> the frame.</a:t>
            </a:r>
          </a:p>
          <a:p>
            <a:endParaRPr lang="fr-FR" sz="1600" dirty="0"/>
          </a:p>
          <a:p>
            <a:r>
              <a:rPr lang="fr-FR" sz="1600" dirty="0"/>
              <a:t>The </a:t>
            </a:r>
            <a:r>
              <a:rPr lang="fr-FR" sz="1600" dirty="0" err="1"/>
              <a:t>raw</a:t>
            </a:r>
            <a:r>
              <a:rPr lang="fr-FR" sz="1600" dirty="0"/>
              <a:t> outputs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dirty="0" err="1"/>
              <a:t>then</a:t>
            </a:r>
            <a:r>
              <a:rPr lang="fr-FR" sz="1600" dirty="0"/>
              <a:t> </a:t>
            </a:r>
            <a:r>
              <a:rPr lang="fr-FR" sz="1600" dirty="0" err="1"/>
              <a:t>filtered</a:t>
            </a:r>
            <a:r>
              <a:rPr lang="fr-FR" sz="1600" dirty="0"/>
              <a:t> on </a:t>
            </a:r>
            <a:r>
              <a:rPr lang="fr-FR" sz="1600" dirty="0" err="1"/>
              <a:t>their</a:t>
            </a:r>
            <a:r>
              <a:rPr lang="fr-FR" sz="1600" dirty="0"/>
              <a:t> </a:t>
            </a:r>
            <a:r>
              <a:rPr lang="fr-FR" sz="1600" dirty="0" err="1"/>
              <a:t>bbox</a:t>
            </a:r>
            <a:r>
              <a:rPr lang="fr-FR" sz="1600" dirty="0"/>
              <a:t> area and aspect ratio.</a:t>
            </a:r>
          </a:p>
          <a:p>
            <a:endParaRPr lang="fr-FR" sz="1600" dirty="0"/>
          </a:p>
          <a:p>
            <a:r>
              <a:rPr lang="fr-FR" sz="1600" dirty="0" err="1"/>
              <a:t>Finally</a:t>
            </a:r>
            <a:r>
              <a:rPr lang="fr-FR" sz="1600" dirty="0"/>
              <a:t>, </a:t>
            </a:r>
            <a:r>
              <a:rPr lang="fr-FR" sz="1600" dirty="0" err="1"/>
              <a:t>with</a:t>
            </a:r>
            <a:r>
              <a:rPr lang="fr-FR" sz="1600" dirty="0"/>
              <a:t> a quick and </a:t>
            </a:r>
            <a:r>
              <a:rPr lang="fr-FR" sz="1600" dirty="0" err="1"/>
              <a:t>dirty</a:t>
            </a:r>
            <a:r>
              <a:rPr lang="fr-FR" sz="1600" dirty="0"/>
              <a:t> </a:t>
            </a:r>
            <a:r>
              <a:rPr lang="fr-FR" sz="1600" b="1" dirty="0" err="1"/>
              <a:t>verification</a:t>
            </a:r>
            <a:r>
              <a:rPr lang="fr-FR" sz="1600" b="1" dirty="0"/>
              <a:t> </a:t>
            </a:r>
            <a:r>
              <a:rPr lang="fr-FR" sz="1600" b="1" dirty="0" err="1"/>
              <a:t>tool</a:t>
            </a:r>
            <a:r>
              <a:rPr lang="fr-FR" sz="1600" dirty="0"/>
              <a:t>, i </a:t>
            </a:r>
            <a:r>
              <a:rPr lang="fr-FR" sz="1600" dirty="0" err="1"/>
              <a:t>was</a:t>
            </a:r>
            <a:r>
              <a:rPr lang="fr-FR" sz="1600" dirty="0"/>
              <a:t> able to </a:t>
            </a:r>
            <a:r>
              <a:rPr lang="fr-FR" sz="1600" dirty="0" err="1"/>
              <a:t>quickly</a:t>
            </a:r>
            <a:r>
              <a:rPr lang="fr-FR" sz="1600" dirty="0"/>
              <a:t> go </a:t>
            </a:r>
            <a:r>
              <a:rPr lang="fr-FR" sz="1600" dirty="0" err="1"/>
              <a:t>through</a:t>
            </a:r>
            <a:r>
              <a:rPr lang="fr-FR" sz="1600" dirty="0"/>
              <a:t> all the </a:t>
            </a:r>
            <a:r>
              <a:rPr lang="fr-FR" sz="1600" dirty="0" err="1"/>
              <a:t>dataset</a:t>
            </a:r>
            <a:r>
              <a:rPr lang="fr-FR" sz="1600" dirty="0"/>
              <a:t>, </a:t>
            </a:r>
            <a:r>
              <a:rPr lang="fr-FR" sz="1600" dirty="0" err="1"/>
              <a:t>correcting</a:t>
            </a:r>
            <a:r>
              <a:rPr lang="fr-FR" sz="1600" dirty="0"/>
              <a:t> </a:t>
            </a:r>
            <a:r>
              <a:rPr lang="fr-FR" sz="1600" dirty="0" err="1"/>
              <a:t>anything</a:t>
            </a:r>
            <a:r>
              <a:rPr lang="fr-FR" sz="1600" dirty="0"/>
              <a:t> the </a:t>
            </a:r>
            <a:r>
              <a:rPr lang="fr-FR" sz="1600" dirty="0" err="1"/>
              <a:t>filter</a:t>
            </a:r>
            <a:r>
              <a:rPr lang="fr-FR" sz="1600" dirty="0"/>
              <a:t> </a:t>
            </a:r>
            <a:r>
              <a:rPr lang="fr-FR" sz="1600" dirty="0" err="1"/>
              <a:t>missed</a:t>
            </a:r>
            <a:r>
              <a:rPr lang="fr-FR" sz="1600" dirty="0"/>
              <a:t> and </a:t>
            </a:r>
            <a:r>
              <a:rPr lang="fr-FR" sz="1600" dirty="0" err="1"/>
              <a:t>adding</a:t>
            </a:r>
            <a:r>
              <a:rPr lang="fr-FR" sz="1600" dirty="0"/>
              <a:t> in </a:t>
            </a:r>
            <a:r>
              <a:rPr lang="fr-FR" sz="1600" dirty="0" err="1"/>
              <a:t>some</a:t>
            </a:r>
            <a:r>
              <a:rPr lang="fr-FR" sz="1600" dirty="0"/>
              <a:t> extra boxes </a:t>
            </a:r>
            <a:r>
              <a:rPr lang="fr-FR" sz="1600" b="1" dirty="0" err="1"/>
              <a:t>manually</a:t>
            </a:r>
            <a:r>
              <a:rPr lang="fr-FR" sz="1600" dirty="0"/>
              <a:t> </a:t>
            </a:r>
            <a:r>
              <a:rPr lang="fr-FR" sz="1600" dirty="0" err="1"/>
              <a:t>where</a:t>
            </a:r>
            <a:r>
              <a:rPr lang="fr-FR" sz="1600" dirty="0"/>
              <a:t> </a:t>
            </a:r>
            <a:r>
              <a:rPr lang="fr-FR" sz="1600" dirty="0" err="1"/>
              <a:t>necessary</a:t>
            </a:r>
            <a:r>
              <a:rPr lang="fr-FR" sz="1600" dirty="0"/>
              <a:t>.</a:t>
            </a:r>
          </a:p>
          <a:p>
            <a:endParaRPr lang="fr-FR" sz="1600" dirty="0"/>
          </a:p>
          <a:p>
            <a:r>
              <a:rPr lang="fr-FR" sz="1600" dirty="0"/>
              <a:t>The </a:t>
            </a:r>
            <a:r>
              <a:rPr lang="fr-FR" sz="1600" dirty="0" err="1"/>
              <a:t>filtered</a:t>
            </a:r>
            <a:r>
              <a:rPr lang="fr-FR" sz="1600" dirty="0"/>
              <a:t> </a:t>
            </a:r>
            <a:r>
              <a:rPr lang="fr-FR" sz="1600" dirty="0" err="1"/>
              <a:t>dataset</a:t>
            </a:r>
            <a:r>
              <a:rPr lang="fr-FR" sz="1600" dirty="0"/>
              <a:t> </a:t>
            </a:r>
            <a:r>
              <a:rPr lang="fr-FR" sz="1600" dirty="0" err="1"/>
              <a:t>resulted</a:t>
            </a:r>
            <a:r>
              <a:rPr lang="fr-FR" sz="1600" dirty="0"/>
              <a:t> in a </a:t>
            </a:r>
            <a:r>
              <a:rPr lang="fr-FR" sz="1600" dirty="0" err="1"/>
              <a:t>higher</a:t>
            </a:r>
            <a:r>
              <a:rPr lang="fr-FR" sz="1600" dirty="0"/>
              <a:t> </a:t>
            </a:r>
            <a:r>
              <a:rPr lang="fr-FR" sz="1600" dirty="0" err="1"/>
              <a:t>mean</a:t>
            </a:r>
            <a:r>
              <a:rPr lang="fr-FR" sz="1600" dirty="0"/>
              <a:t> </a:t>
            </a:r>
            <a:r>
              <a:rPr lang="fr-FR" sz="1600" dirty="0" err="1"/>
              <a:t>average</a:t>
            </a:r>
            <a:r>
              <a:rPr lang="fr-FR" sz="1600" dirty="0"/>
              <a:t> </a:t>
            </a:r>
            <a:r>
              <a:rPr lang="fr-FR" sz="1600" dirty="0" err="1"/>
              <a:t>precision</a:t>
            </a:r>
            <a:r>
              <a:rPr lang="fr-FR" sz="1600" dirty="0"/>
              <a:t> </a:t>
            </a:r>
            <a:r>
              <a:rPr lang="fr-FR" sz="1600" dirty="0" err="1"/>
              <a:t>than</a:t>
            </a:r>
            <a:r>
              <a:rPr lang="fr-FR" sz="1600" dirty="0"/>
              <a:t> </a:t>
            </a:r>
            <a:r>
              <a:rPr lang="fr-FR" sz="1600" dirty="0" err="1"/>
              <a:t>that</a:t>
            </a:r>
            <a:r>
              <a:rPr lang="fr-FR" sz="1600" dirty="0"/>
              <a:t> </a:t>
            </a:r>
            <a:r>
              <a:rPr lang="fr-FR" sz="1600" dirty="0" err="1"/>
              <a:t>unfiltered</a:t>
            </a:r>
            <a:r>
              <a:rPr lang="fr-FR" sz="1600" dirty="0"/>
              <a:t> versions in A/B </a:t>
            </a:r>
            <a:r>
              <a:rPr lang="fr-FR" sz="1600" dirty="0" err="1"/>
              <a:t>testing</a:t>
            </a:r>
            <a:r>
              <a:rPr lang="fr-FR" sz="1600" dirty="0"/>
              <a:t>, and </a:t>
            </a:r>
            <a:r>
              <a:rPr lang="fr-FR" sz="1600" dirty="0" err="1"/>
              <a:t>that</a:t>
            </a:r>
            <a:r>
              <a:rPr lang="fr-FR" sz="1600" dirty="0"/>
              <a:t> </a:t>
            </a:r>
            <a:r>
              <a:rPr lang="fr-FR" sz="1600" dirty="0" err="1"/>
              <a:t>was</a:t>
            </a:r>
            <a:r>
              <a:rPr lang="fr-FR" sz="1600" dirty="0"/>
              <a:t> </a:t>
            </a:r>
            <a:r>
              <a:rPr lang="fr-FR" sz="1600" dirty="0" err="1"/>
              <a:t>used</a:t>
            </a:r>
            <a:r>
              <a:rPr lang="fr-FR" sz="1600" dirty="0"/>
              <a:t> for fine-tuning.</a:t>
            </a:r>
          </a:p>
          <a:p>
            <a:endParaRPr lang="fr-FR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noProof="0" dirty="0"/>
              <a:t>[5m]</a:t>
            </a:r>
          </a:p>
          <a:p>
            <a:endParaRPr lang="fr-FR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7984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b="1" dirty="0"/>
              <a:t>For the </a:t>
            </a:r>
            <a:r>
              <a:rPr lang="fr-FR" sz="1600" b="1" dirty="0" err="1"/>
              <a:t>scale</a:t>
            </a:r>
            <a:r>
              <a:rPr lang="fr-FR" sz="1600" b="1" dirty="0"/>
              <a:t> extraction</a:t>
            </a:r>
            <a:r>
              <a:rPr lang="fr-FR" sz="1600" dirty="0"/>
              <a:t>: in </a:t>
            </a:r>
            <a:r>
              <a:rPr lang="fr-FR" sz="1600" dirty="0" err="1"/>
              <a:t>each</a:t>
            </a:r>
            <a:r>
              <a:rPr lang="fr-FR" sz="1600" dirty="0"/>
              <a:t> frame the pixel distance </a:t>
            </a:r>
            <a:r>
              <a:rPr lang="fr-FR" sz="1600" dirty="0" err="1"/>
              <a:t>between</a:t>
            </a:r>
            <a:r>
              <a:rPr lang="fr-FR" sz="1600" dirty="0"/>
              <a:t> the </a:t>
            </a:r>
            <a:r>
              <a:rPr lang="fr-FR" sz="1600" dirty="0" err="1"/>
              <a:t>two</a:t>
            </a:r>
            <a:r>
              <a:rPr lang="fr-FR" sz="1600" dirty="0"/>
              <a:t> </a:t>
            </a:r>
            <a:r>
              <a:rPr lang="fr-FR" sz="1600" b="1" dirty="0" err="1"/>
              <a:t>outermost</a:t>
            </a:r>
            <a:r>
              <a:rPr lang="fr-FR" sz="1600" dirty="0"/>
              <a:t> visible markers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divided</a:t>
            </a:r>
            <a:r>
              <a:rPr lang="fr-FR" sz="1600" dirty="0"/>
              <a:t> by </a:t>
            </a:r>
            <a:r>
              <a:rPr lang="fr-FR" sz="1600" dirty="0" err="1"/>
              <a:t>thier</a:t>
            </a:r>
            <a:r>
              <a:rPr lang="fr-FR" sz="1600" dirty="0"/>
              <a:t> </a:t>
            </a:r>
            <a:r>
              <a:rPr lang="fr-FR" sz="1600" b="1" dirty="0" err="1"/>
              <a:t>known</a:t>
            </a:r>
            <a:r>
              <a:rPr lang="fr-FR" sz="1600" dirty="0"/>
              <a:t>, real-world </a:t>
            </a:r>
            <a:r>
              <a:rPr lang="fr-FR" sz="1600" dirty="0" err="1"/>
              <a:t>separation</a:t>
            </a:r>
            <a:r>
              <a:rPr lang="fr-FR" sz="1600" dirty="0"/>
              <a:t> to </a:t>
            </a:r>
            <a:r>
              <a:rPr lang="fr-FR" sz="1600" dirty="0" err="1"/>
              <a:t>get</a:t>
            </a:r>
            <a:r>
              <a:rPr lang="fr-FR" sz="1600" dirty="0"/>
              <a:t> a pixel-to-</a:t>
            </a:r>
            <a:r>
              <a:rPr lang="fr-FR" sz="1600" dirty="0" err="1"/>
              <a:t>metre</a:t>
            </a:r>
            <a:r>
              <a:rPr lang="fr-FR" sz="1600" dirty="0"/>
              <a:t> ratio. </a:t>
            </a:r>
          </a:p>
          <a:p>
            <a:r>
              <a:rPr lang="fr-FR" sz="1600" dirty="0"/>
              <a:t>A </a:t>
            </a:r>
            <a:r>
              <a:rPr lang="fr-FR" sz="1600" dirty="0" err="1"/>
              <a:t>mean</a:t>
            </a:r>
            <a:r>
              <a:rPr lang="fr-FR" sz="1600" dirty="0"/>
              <a:t> </a:t>
            </a:r>
            <a:r>
              <a:rPr lang="fr-FR" sz="1600" dirty="0" err="1"/>
              <a:t>absolute</a:t>
            </a:r>
            <a:r>
              <a:rPr lang="fr-FR" sz="1600" dirty="0"/>
              <a:t> </a:t>
            </a:r>
            <a:r>
              <a:rPr lang="fr-FR" sz="1600" dirty="0" err="1"/>
              <a:t>deviation</a:t>
            </a:r>
            <a:r>
              <a:rPr lang="fr-FR" sz="1600" dirty="0"/>
              <a:t> </a:t>
            </a:r>
            <a:r>
              <a:rPr lang="fr-FR" sz="1600" dirty="0" err="1"/>
              <a:t>filter</a:t>
            </a:r>
            <a:r>
              <a:rPr lang="fr-FR" sz="1600" dirty="0"/>
              <a:t> </a:t>
            </a:r>
            <a:r>
              <a:rPr lang="fr-FR" sz="1600" dirty="0" err="1"/>
              <a:t>stabilizes</a:t>
            </a:r>
            <a:r>
              <a:rPr lang="fr-FR" sz="1600" dirty="0"/>
              <a:t> the </a:t>
            </a:r>
            <a:r>
              <a:rPr lang="fr-FR" sz="1600" dirty="0" err="1"/>
              <a:t>result</a:t>
            </a:r>
            <a:r>
              <a:rPr lang="fr-FR" sz="1600" dirty="0"/>
              <a:t> </a:t>
            </a:r>
            <a:r>
              <a:rPr lang="fr-FR" sz="1600" dirty="0" err="1"/>
              <a:t>from</a:t>
            </a:r>
            <a:r>
              <a:rPr lang="fr-FR" sz="1600" dirty="0"/>
              <a:t> </a:t>
            </a:r>
            <a:r>
              <a:rPr lang="fr-FR" sz="1600" dirty="0" err="1"/>
              <a:t>significant</a:t>
            </a:r>
            <a:r>
              <a:rPr lang="fr-FR" sz="1600" dirty="0"/>
              <a:t> </a:t>
            </a:r>
            <a:r>
              <a:rPr lang="fr-FR" sz="1600" dirty="0" err="1"/>
              <a:t>errors</a:t>
            </a:r>
            <a:r>
              <a:rPr lang="fr-FR" sz="1600" dirty="0"/>
              <a:t>, and </a:t>
            </a:r>
            <a:r>
              <a:rPr lang="fr-FR" sz="1600" dirty="0" err="1"/>
              <a:t>when</a:t>
            </a:r>
            <a:r>
              <a:rPr lang="fr-FR" sz="1600" dirty="0"/>
              <a:t> </a:t>
            </a:r>
            <a:r>
              <a:rPr lang="fr-FR" sz="1600" dirty="0" err="1"/>
              <a:t>less</a:t>
            </a:r>
            <a:r>
              <a:rPr lang="fr-FR" sz="1600" dirty="0"/>
              <a:t> </a:t>
            </a:r>
            <a:r>
              <a:rPr lang="fr-FR" sz="1600" dirty="0" err="1"/>
              <a:t>than</a:t>
            </a:r>
            <a:r>
              <a:rPr lang="fr-FR" sz="1600" dirty="0"/>
              <a:t> 2 markers are </a:t>
            </a:r>
            <a:r>
              <a:rPr lang="fr-FR" sz="1600" dirty="0" err="1"/>
              <a:t>detected</a:t>
            </a:r>
            <a:r>
              <a:rPr lang="fr-FR" sz="1600" dirty="0"/>
              <a:t> in the frame, the </a:t>
            </a:r>
            <a:r>
              <a:rPr lang="fr-FR" sz="1600" dirty="0" err="1"/>
              <a:t>most</a:t>
            </a:r>
            <a:r>
              <a:rPr lang="fr-FR" sz="1600" dirty="0"/>
              <a:t> </a:t>
            </a:r>
            <a:r>
              <a:rPr lang="fr-FR" sz="1600" dirty="0" err="1"/>
              <a:t>recent</a:t>
            </a:r>
            <a:r>
              <a:rPr lang="fr-FR" sz="1600" dirty="0"/>
              <a:t> </a:t>
            </a:r>
            <a:r>
              <a:rPr lang="fr-FR" sz="1600" b="1" dirty="0" err="1"/>
              <a:t>valid</a:t>
            </a:r>
            <a:r>
              <a:rPr lang="fr-FR" sz="1600" dirty="0"/>
              <a:t> ratio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carried</a:t>
            </a:r>
            <a:r>
              <a:rPr lang="fr-FR" sz="1600" dirty="0"/>
              <a:t> </a:t>
            </a:r>
            <a:r>
              <a:rPr lang="fr-FR" sz="1600" dirty="0" err="1"/>
              <a:t>forward</a:t>
            </a:r>
            <a:r>
              <a:rPr lang="fr-FR" sz="1600" dirty="0"/>
              <a:t>. </a:t>
            </a:r>
          </a:p>
          <a:p>
            <a:endParaRPr lang="fr-FR" sz="1600" dirty="0"/>
          </a:p>
          <a:p>
            <a:r>
              <a:rPr lang="fr-FR" sz="1600" dirty="0"/>
              <a:t>on the </a:t>
            </a:r>
            <a:r>
              <a:rPr lang="fr-FR" sz="1600" dirty="0" err="1"/>
              <a:t>other</a:t>
            </a:r>
            <a:r>
              <a:rPr lang="fr-FR" sz="1600" dirty="0"/>
              <a:t> hand, the </a:t>
            </a:r>
            <a:r>
              <a:rPr lang="fr-FR" sz="1600" b="1" dirty="0" err="1"/>
              <a:t>kinematic</a:t>
            </a:r>
            <a:r>
              <a:rPr lang="fr-FR" sz="1600" b="1" dirty="0"/>
              <a:t> </a:t>
            </a:r>
            <a:r>
              <a:rPr lang="fr-FR" sz="1600" b="1" dirty="0" err="1"/>
              <a:t>mertrics</a:t>
            </a:r>
            <a:r>
              <a:rPr lang="fr-FR" sz="1600" b="1" dirty="0"/>
              <a:t>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dirty="0" err="1"/>
              <a:t>extracted</a:t>
            </a:r>
            <a:r>
              <a:rPr lang="fr-FR" sz="1600" dirty="0"/>
              <a:t> by</a:t>
            </a:r>
          </a:p>
          <a:p>
            <a:r>
              <a:rPr lang="fr-FR" sz="1600" dirty="0" err="1"/>
              <a:t>Combining</a:t>
            </a:r>
            <a:r>
              <a:rPr lang="fr-FR" sz="1600" dirty="0"/>
              <a:t> the motion of the camera </a:t>
            </a:r>
            <a:r>
              <a:rPr lang="fr-FR" sz="1600" dirty="0" err="1"/>
              <a:t>itself</a:t>
            </a:r>
            <a:r>
              <a:rPr lang="fr-FR" sz="1600" dirty="0"/>
              <a:t> </a:t>
            </a:r>
            <a:r>
              <a:rPr lang="fr-FR" sz="1600" err="1"/>
              <a:t>with</a:t>
            </a:r>
            <a:r>
              <a:rPr lang="fr-FR" sz="1600"/>
              <a:t> the swimmer’s displacement in the frame, </a:t>
            </a:r>
            <a:r>
              <a:rPr lang="fr-FR" sz="1600" b="1" dirty="0" err="1"/>
              <a:t>using</a:t>
            </a:r>
            <a:r>
              <a:rPr lang="fr-FR" sz="1600" dirty="0"/>
              <a:t> the </a:t>
            </a:r>
            <a:r>
              <a:rPr lang="fr-FR" sz="1600" dirty="0" err="1"/>
              <a:t>detected</a:t>
            </a:r>
            <a:r>
              <a:rPr lang="fr-FR" sz="1600" dirty="0"/>
              <a:t> markers as </a:t>
            </a:r>
            <a:r>
              <a:rPr lang="fr-FR" sz="1600" dirty="0" err="1"/>
              <a:t>stationary</a:t>
            </a:r>
            <a:r>
              <a:rPr lang="fr-FR" sz="1600" dirty="0"/>
              <a:t> </a:t>
            </a:r>
            <a:r>
              <a:rPr lang="fr-FR" sz="1600" dirty="0" err="1"/>
              <a:t>anchors</a:t>
            </a:r>
            <a:r>
              <a:rPr lang="fr-FR" sz="1600" dirty="0"/>
              <a:t>, </a:t>
            </a:r>
            <a:r>
              <a:rPr lang="fr-FR" sz="1600" b="0" dirty="0" err="1"/>
              <a:t>taking</a:t>
            </a:r>
            <a:r>
              <a:rPr lang="fr-FR" sz="1600" dirty="0"/>
              <a:t> the </a:t>
            </a:r>
            <a:r>
              <a:rPr lang="fr-FR" sz="1600" b="1" dirty="0" err="1"/>
              <a:t>median</a:t>
            </a:r>
            <a:r>
              <a:rPr lang="fr-FR" sz="1600" dirty="0"/>
              <a:t> </a:t>
            </a:r>
            <a:r>
              <a:rPr lang="fr-FR" sz="1600" dirty="0" err="1"/>
              <a:t>displacement</a:t>
            </a:r>
            <a:r>
              <a:rPr lang="fr-FR" sz="1600" dirty="0"/>
              <a:t> </a:t>
            </a:r>
            <a:r>
              <a:rPr lang="fr-FR" sz="1600" dirty="0" err="1"/>
              <a:t>across</a:t>
            </a:r>
            <a:r>
              <a:rPr lang="fr-FR" sz="1600" dirty="0"/>
              <a:t> all markers per frame. </a:t>
            </a:r>
          </a:p>
          <a:p>
            <a:endParaRPr lang="fr-FR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3240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dirty="0"/>
              <a:t>The </a:t>
            </a:r>
            <a:r>
              <a:rPr lang="fr-FR" sz="1600" dirty="0" err="1"/>
              <a:t>swimmer’s</a:t>
            </a:r>
            <a:r>
              <a:rPr lang="fr-FR" sz="1600" dirty="0"/>
              <a:t> centre of mass </a:t>
            </a:r>
            <a:r>
              <a:rPr lang="fr-FR" sz="1600" dirty="0" err="1"/>
              <a:t>was</a:t>
            </a:r>
            <a:r>
              <a:rPr lang="fr-FR" sz="1600" dirty="0"/>
              <a:t> </a:t>
            </a:r>
            <a:r>
              <a:rPr lang="fr-FR" sz="1600" dirty="0" err="1"/>
              <a:t>estimated</a:t>
            </a:r>
            <a:r>
              <a:rPr lang="fr-FR" sz="1600" dirty="0"/>
              <a:t> by </a:t>
            </a:r>
            <a:r>
              <a:rPr lang="fr-FR" sz="1600" dirty="0" err="1"/>
              <a:t>taking</a:t>
            </a:r>
            <a:r>
              <a:rPr lang="fr-FR" sz="1600" dirty="0"/>
              <a:t> the </a:t>
            </a:r>
            <a:r>
              <a:rPr lang="fr-FR" sz="1600" b="1" dirty="0"/>
              <a:t>centre</a:t>
            </a:r>
            <a:r>
              <a:rPr lang="fr-FR" sz="1600" dirty="0"/>
              <a:t> of the </a:t>
            </a:r>
            <a:r>
              <a:rPr lang="fr-FR" sz="1600" dirty="0" err="1"/>
              <a:t>two</a:t>
            </a:r>
            <a:r>
              <a:rPr lang="fr-FR" sz="1600" dirty="0"/>
              <a:t> hip </a:t>
            </a:r>
            <a:r>
              <a:rPr lang="fr-FR" sz="1600" dirty="0" err="1"/>
              <a:t>keypoints</a:t>
            </a:r>
            <a:r>
              <a:rPr lang="fr-FR" sz="1600" dirty="0"/>
              <a:t> </a:t>
            </a:r>
            <a:r>
              <a:rPr lang="fr-FR" sz="1600" dirty="0" err="1"/>
              <a:t>instead</a:t>
            </a:r>
            <a:r>
              <a:rPr lang="fr-FR" sz="1600" dirty="0"/>
              <a:t> of </a:t>
            </a:r>
            <a:r>
              <a:rPr lang="fr-FR" sz="1600" dirty="0" err="1"/>
              <a:t>something</a:t>
            </a:r>
            <a:r>
              <a:rPr lang="fr-FR" sz="1600" dirty="0"/>
              <a:t> like the </a:t>
            </a:r>
            <a:r>
              <a:rPr lang="fr-FR" sz="1600" dirty="0" err="1"/>
              <a:t>bbox</a:t>
            </a:r>
            <a:r>
              <a:rPr lang="fr-FR" sz="1600" dirty="0"/>
              <a:t> </a:t>
            </a:r>
            <a:r>
              <a:rPr lang="fr-FR" sz="1600" dirty="0" err="1"/>
              <a:t>centroid</a:t>
            </a:r>
            <a:r>
              <a:rPr lang="fr-FR" sz="1600" dirty="0"/>
              <a:t>, as the latter </a:t>
            </a:r>
            <a:r>
              <a:rPr lang="fr-FR" sz="1600" dirty="0" err="1"/>
              <a:t>would</a:t>
            </a:r>
            <a:r>
              <a:rPr lang="fr-FR" sz="1600" dirty="0"/>
              <a:t> </a:t>
            </a:r>
            <a:r>
              <a:rPr lang="fr-FR" sz="1600" dirty="0" err="1"/>
              <a:t>oscillate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every</a:t>
            </a:r>
            <a:r>
              <a:rPr lang="fr-FR" sz="1600" dirty="0"/>
              <a:t> stroke the </a:t>
            </a:r>
            <a:r>
              <a:rPr lang="fr-FR" sz="1600" dirty="0" err="1"/>
              <a:t>swimmer</a:t>
            </a:r>
            <a:r>
              <a:rPr lang="fr-FR" sz="1600" dirty="0"/>
              <a:t> </a:t>
            </a:r>
            <a:r>
              <a:rPr lang="fr-FR" sz="1600" dirty="0" err="1"/>
              <a:t>takes</a:t>
            </a:r>
            <a:r>
              <a:rPr lang="fr-FR" sz="16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5932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/>
              <a:t>The </a:t>
            </a:r>
            <a:r>
              <a:rPr lang="fr-FR" sz="1200" dirty="0" err="1"/>
              <a:t>trajectory</a:t>
            </a:r>
            <a:r>
              <a:rPr lang="fr-FR" sz="1200" dirty="0"/>
              <a:t> </a:t>
            </a:r>
            <a:r>
              <a:rPr lang="fr-FR" sz="1200" dirty="0" err="1"/>
              <a:t>finally</a:t>
            </a:r>
            <a:r>
              <a:rPr lang="fr-FR" sz="1200" dirty="0"/>
              <a:t> </a:t>
            </a:r>
            <a:r>
              <a:rPr lang="fr-FR" sz="1200" dirty="0" err="1"/>
              <a:t>goes</a:t>
            </a:r>
            <a:r>
              <a:rPr lang="fr-FR" sz="1200" dirty="0"/>
              <a:t> </a:t>
            </a:r>
            <a:r>
              <a:rPr lang="fr-FR" sz="1200" dirty="0" err="1"/>
              <a:t>through</a:t>
            </a:r>
            <a:r>
              <a:rPr lang="fr-FR" sz="1200" dirty="0"/>
              <a:t> a </a:t>
            </a:r>
            <a:r>
              <a:rPr lang="fr-FR" sz="1200" b="1" dirty="0" err="1"/>
              <a:t>kalman</a:t>
            </a:r>
            <a:r>
              <a:rPr lang="fr-FR" sz="1200" b="1" dirty="0"/>
              <a:t> </a:t>
            </a:r>
            <a:r>
              <a:rPr lang="fr-FR" sz="1200" b="1" dirty="0" err="1"/>
              <a:t>filter</a:t>
            </a:r>
            <a:r>
              <a:rPr lang="fr-FR" sz="1200" dirty="0"/>
              <a:t>, </a:t>
            </a:r>
            <a:r>
              <a:rPr lang="fr-FR" sz="1200" dirty="0" err="1"/>
              <a:t>loop</a:t>
            </a:r>
            <a:r>
              <a:rPr lang="fr-FR" sz="1200" dirty="0"/>
              <a:t> </a:t>
            </a:r>
            <a:r>
              <a:rPr lang="fr-FR" sz="1200" dirty="0" err="1"/>
              <a:t>closure</a:t>
            </a:r>
            <a:r>
              <a:rPr lang="fr-FR" sz="1200" dirty="0"/>
              <a:t> correction </a:t>
            </a:r>
            <a:r>
              <a:rPr lang="fr-FR" sz="1200" dirty="0" err="1"/>
              <a:t>against</a:t>
            </a:r>
            <a:r>
              <a:rPr lang="fr-FR" sz="1200" dirty="0"/>
              <a:t> the </a:t>
            </a:r>
            <a:r>
              <a:rPr lang="fr-FR" sz="1200" b="1" dirty="0" err="1"/>
              <a:t>known</a:t>
            </a:r>
            <a:r>
              <a:rPr lang="fr-FR" sz="1200" dirty="0"/>
              <a:t> 25m pool </a:t>
            </a:r>
            <a:r>
              <a:rPr lang="fr-FR" sz="1200" dirty="0" err="1"/>
              <a:t>length</a:t>
            </a:r>
            <a:r>
              <a:rPr lang="fr-FR" sz="1200" dirty="0"/>
              <a:t>, and </a:t>
            </a:r>
            <a:r>
              <a:rPr lang="fr-FR" sz="1200" b="1" dirty="0" err="1"/>
              <a:t>savitzky</a:t>
            </a:r>
            <a:r>
              <a:rPr lang="fr-FR" sz="1200" b="1" dirty="0"/>
              <a:t>-Golay </a:t>
            </a:r>
            <a:r>
              <a:rPr lang="fr-FR" sz="1200" b="1" dirty="0" err="1"/>
              <a:t>smoothing</a:t>
            </a:r>
            <a:r>
              <a:rPr lang="fr-FR" sz="1200" b="1" dirty="0"/>
              <a:t> </a:t>
            </a:r>
            <a:r>
              <a:rPr lang="fr-FR" sz="1200" dirty="0"/>
              <a:t>in the </a:t>
            </a:r>
            <a:r>
              <a:rPr lang="fr-FR" sz="1200" dirty="0" err="1"/>
              <a:t>velocity</a:t>
            </a:r>
            <a:r>
              <a:rPr lang="fr-FR" sz="1200" dirty="0"/>
              <a:t> signal. </a:t>
            </a:r>
          </a:p>
          <a:p>
            <a:endParaRPr lang="fr-FR" sz="1200" dirty="0"/>
          </a:p>
          <a:p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 dirty="0"/>
              <a:t>[6m]</a:t>
            </a:r>
          </a:p>
          <a:p>
            <a:endParaRPr lang="fr-F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2316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The system was evaluated on a </a:t>
            </a:r>
            <a:r>
              <a:rPr lang="en-GB" sz="1600" b="1" dirty="0"/>
              <a:t>single</a:t>
            </a:r>
            <a:r>
              <a:rPr lang="en-GB" sz="1600" dirty="0"/>
              <a:t> 50 m breaststroke sequence, with ground truth split times </a:t>
            </a:r>
            <a:r>
              <a:rPr lang="en-GB" sz="1600" b="1" dirty="0"/>
              <a:t>manually recorded </a:t>
            </a:r>
            <a:r>
              <a:rPr lang="en-GB" sz="1600" dirty="0"/>
              <a:t>every 2.5 m resulting in 20 total checkpoints.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0740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b="1" dirty="0"/>
              <a:t>18</a:t>
            </a:r>
            <a:r>
              <a:rPr lang="fr-FR" sz="1600" dirty="0"/>
              <a:t> of </a:t>
            </a:r>
            <a:r>
              <a:rPr lang="fr-FR" sz="1600" dirty="0" err="1"/>
              <a:t>these</a:t>
            </a:r>
            <a:r>
              <a:rPr lang="fr-FR" sz="1600" dirty="0"/>
              <a:t> checkpoints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dirty="0" err="1"/>
              <a:t>recovered</a:t>
            </a:r>
            <a:r>
              <a:rPr lang="fr-FR" sz="1600" dirty="0"/>
              <a:t>. The </a:t>
            </a:r>
            <a:r>
              <a:rPr lang="fr-FR" sz="1600" dirty="0" err="1"/>
              <a:t>two</a:t>
            </a:r>
            <a:r>
              <a:rPr lang="fr-FR" sz="1600" dirty="0"/>
              <a:t> </a:t>
            </a:r>
            <a:r>
              <a:rPr lang="fr-FR" sz="1600" dirty="0" err="1"/>
              <a:t>missing</a:t>
            </a:r>
            <a:r>
              <a:rPr lang="fr-FR" sz="1600" dirty="0"/>
              <a:t> </a:t>
            </a:r>
            <a:r>
              <a:rPr lang="fr-FR" sz="1600" dirty="0" err="1"/>
              <a:t>ones</a:t>
            </a:r>
            <a:r>
              <a:rPr lang="fr-FR" sz="1600" dirty="0"/>
              <a:t> are at the pool </a:t>
            </a:r>
            <a:r>
              <a:rPr lang="fr-FR" sz="1600" dirty="0" err="1"/>
              <a:t>walls</a:t>
            </a:r>
            <a:r>
              <a:rPr lang="fr-FR" sz="1600" dirty="0"/>
              <a:t> due to </a:t>
            </a:r>
            <a:r>
              <a:rPr lang="fr-FR" sz="1600" dirty="0" err="1"/>
              <a:t>trajectory</a:t>
            </a:r>
            <a:r>
              <a:rPr lang="fr-FR" sz="1600" dirty="0"/>
              <a:t> noise at the </a:t>
            </a:r>
            <a:r>
              <a:rPr lang="fr-FR" sz="1600" dirty="0" err="1"/>
              <a:t>boundaries</a:t>
            </a:r>
            <a:r>
              <a:rPr lang="fr-FR" sz="1600" dirty="0"/>
              <a:t>. </a:t>
            </a:r>
          </a:p>
          <a:p>
            <a:endParaRPr lang="fr-FR" sz="1600" dirty="0"/>
          </a:p>
          <a:p>
            <a:r>
              <a:rPr lang="fr-FR" sz="1600" dirty="0"/>
              <a:t>The </a:t>
            </a:r>
            <a:r>
              <a:rPr lang="fr-FR" sz="1600" dirty="0" err="1"/>
              <a:t>error</a:t>
            </a:r>
            <a:r>
              <a:rPr lang="fr-FR" sz="1600" dirty="0"/>
              <a:t> pattern </a:t>
            </a:r>
            <a:r>
              <a:rPr lang="fr-FR" sz="1600" dirty="0" err="1"/>
              <a:t>displayed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b="1" dirty="0"/>
              <a:t>non-</a:t>
            </a:r>
            <a:r>
              <a:rPr lang="fr-FR" sz="1600" b="1" dirty="0" err="1"/>
              <a:t>linear</a:t>
            </a:r>
            <a:r>
              <a:rPr lang="fr-FR" sz="1600" dirty="0"/>
              <a:t> </a:t>
            </a:r>
            <a:r>
              <a:rPr lang="fr-FR" sz="1600" b="1" dirty="0"/>
              <a:t>in nature </a:t>
            </a:r>
            <a:r>
              <a:rPr lang="fr-FR" sz="1600" dirty="0" err="1"/>
              <a:t>instead</a:t>
            </a:r>
            <a:r>
              <a:rPr lang="fr-FR" sz="1600" dirty="0"/>
              <a:t> of simple drift, and the spikes in the graph are a </a:t>
            </a:r>
            <a:r>
              <a:rPr lang="fr-FR" sz="1600" dirty="0" err="1"/>
              <a:t>result</a:t>
            </a:r>
            <a:r>
              <a:rPr lang="fr-FR" sz="1600" dirty="0"/>
              <a:t> of the </a:t>
            </a:r>
            <a:r>
              <a:rPr lang="fr-FR" sz="1600" b="1" dirty="0"/>
              <a:t>combination</a:t>
            </a:r>
            <a:r>
              <a:rPr lang="fr-FR" sz="1600" dirty="0"/>
              <a:t> of the </a:t>
            </a:r>
            <a:r>
              <a:rPr lang="fr-FR" sz="1600" dirty="0" err="1"/>
              <a:t>swimmer’s</a:t>
            </a:r>
            <a:r>
              <a:rPr lang="fr-FR" sz="1600" dirty="0"/>
              <a:t> </a:t>
            </a:r>
            <a:r>
              <a:rPr lang="fr-FR" sz="1600" dirty="0" err="1"/>
              <a:t>imperfect</a:t>
            </a:r>
            <a:r>
              <a:rPr lang="fr-FR" sz="1600" dirty="0"/>
              <a:t> stroke cycle and the </a:t>
            </a:r>
            <a:r>
              <a:rPr lang="fr-FR" sz="1600" dirty="0" err="1"/>
              <a:t>system’s</a:t>
            </a:r>
            <a:r>
              <a:rPr lang="fr-FR" sz="1600" dirty="0"/>
              <a:t> </a:t>
            </a:r>
            <a:r>
              <a:rPr lang="fr-FR" sz="1600" dirty="0" err="1"/>
              <a:t>own</a:t>
            </a:r>
            <a:r>
              <a:rPr lang="fr-FR" sz="1600" dirty="0"/>
              <a:t> </a:t>
            </a:r>
            <a:r>
              <a:rPr lang="fr-FR" sz="1600" dirty="0" err="1"/>
              <a:t>slight</a:t>
            </a:r>
            <a:r>
              <a:rPr lang="fr-FR" sz="1600" dirty="0"/>
              <a:t> </a:t>
            </a:r>
            <a:r>
              <a:rPr lang="fr-FR" sz="1600" dirty="0" err="1"/>
              <a:t>errors</a:t>
            </a:r>
            <a:r>
              <a:rPr lang="fr-FR" sz="1600" dirty="0"/>
              <a:t>.</a:t>
            </a:r>
            <a:endParaRPr lang="LID4096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4729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Across the recovered checkpoints, the mean absolute error was </a:t>
            </a:r>
            <a:r>
              <a:rPr lang="en-GB" sz="1600" b="1" dirty="0"/>
              <a:t>1.005 seconds,</a:t>
            </a:r>
            <a:r>
              <a:rPr lang="en-GB" sz="1600" b="0" dirty="0"/>
              <a:t> and the root mean squared error was </a:t>
            </a:r>
            <a:r>
              <a:rPr lang="en-GB" sz="1600" b="1" dirty="0"/>
              <a:t>1.210 seconds.</a:t>
            </a:r>
            <a:endParaRPr lang="en-GB" sz="1600" b="1" strike="sngStrike" dirty="0"/>
          </a:p>
          <a:p>
            <a:r>
              <a:rPr lang="en-GB" sz="1600" b="0" strike="sngStrike" dirty="0"/>
              <a:t>The swimmer in the test sequence achieved a peak speed of </a:t>
            </a:r>
            <a:r>
              <a:rPr lang="en-GB" sz="1600" b="1" strike="sngStrike" dirty="0"/>
              <a:t>4.96m/s </a:t>
            </a:r>
            <a:r>
              <a:rPr lang="en-GB" sz="1600" b="0" strike="sngStrike" dirty="0"/>
              <a:t>and an average speed of </a:t>
            </a:r>
            <a:r>
              <a:rPr lang="en-GB" sz="1600" b="1" strike="sngStrike" dirty="0"/>
              <a:t>1.95m/s </a:t>
            </a:r>
            <a:r>
              <a:rPr lang="en-GB" sz="1600" b="0" strike="sngStrike" dirty="0"/>
              <a:t>according to the system.</a:t>
            </a:r>
          </a:p>
          <a:p>
            <a:endParaRPr lang="en-GB" sz="1600" b="1" dirty="0"/>
          </a:p>
          <a:p>
            <a:r>
              <a:rPr lang="en-GB" sz="1600" b="0" dirty="0"/>
              <a:t>For context, elite race timing requires </a:t>
            </a:r>
            <a:r>
              <a:rPr lang="en-GB" sz="1600" b="1" dirty="0"/>
              <a:t>sub millisecond </a:t>
            </a:r>
            <a:r>
              <a:rPr lang="en-GB" sz="1600" b="0" dirty="0"/>
              <a:t>precision which is </a:t>
            </a:r>
            <a:r>
              <a:rPr lang="en-GB" sz="1600" b="1" dirty="0"/>
              <a:t>not</a:t>
            </a:r>
            <a:r>
              <a:rPr lang="en-GB" sz="1600" b="0" dirty="0"/>
              <a:t> achieved by this system. </a:t>
            </a:r>
          </a:p>
          <a:p>
            <a:r>
              <a:rPr lang="en-GB" sz="1600" b="0" dirty="0"/>
              <a:t>But for coaching </a:t>
            </a:r>
            <a:r>
              <a:rPr lang="en-GB" sz="1600" b="1" dirty="0"/>
              <a:t>pace</a:t>
            </a:r>
            <a:r>
              <a:rPr lang="en-GB" sz="1600" b="0" dirty="0"/>
              <a:t>, </a:t>
            </a:r>
            <a:r>
              <a:rPr lang="en-GB" sz="1600" b="1" dirty="0"/>
              <a:t>splits</a:t>
            </a:r>
            <a:r>
              <a:rPr lang="en-GB" sz="1600" b="0" dirty="0"/>
              <a:t>, and </a:t>
            </a:r>
            <a:r>
              <a:rPr lang="en-GB" sz="1600" b="1" dirty="0"/>
              <a:t>technique</a:t>
            </a:r>
            <a:r>
              <a:rPr lang="en-GB" sz="1600" b="0" dirty="0"/>
              <a:t> across sessions, whole second resolution is </a:t>
            </a:r>
            <a:r>
              <a:rPr lang="en-GB" sz="1600" b="1" dirty="0"/>
              <a:t>usable</a:t>
            </a:r>
            <a:r>
              <a:rPr lang="en-GB" sz="1600" b="0" dirty="0"/>
              <a:t>. </a:t>
            </a:r>
          </a:p>
          <a:p>
            <a:endParaRPr lang="en-GB" sz="1600" b="0" dirty="0"/>
          </a:p>
          <a:p>
            <a:r>
              <a:rPr lang="en-GB" sz="1600" b="0" dirty="0"/>
              <a:t>Finally, a known limitation of the system is the </a:t>
            </a:r>
            <a:r>
              <a:rPr lang="en-GB" sz="1600" b="1" dirty="0"/>
              <a:t>heavy</a:t>
            </a:r>
            <a:r>
              <a:rPr lang="en-GB" sz="1600" b="0" dirty="0"/>
              <a:t> reliance on filtering due to the ammount of noise, </a:t>
            </a:r>
            <a:r>
              <a:rPr lang="en-GB" sz="1600" b="1" dirty="0"/>
              <a:t>especially</a:t>
            </a:r>
            <a:r>
              <a:rPr lang="en-GB" sz="1600" b="0" dirty="0"/>
              <a:t> at the water-air interface due to occlusions from splashes and bubbles.</a:t>
            </a:r>
          </a:p>
          <a:p>
            <a:endParaRPr lang="en-GB" sz="16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noProof="0" dirty="0"/>
              <a:t>[7m]</a:t>
            </a:r>
          </a:p>
          <a:p>
            <a:endParaRPr lang="en-GB"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9326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The most </a:t>
            </a:r>
            <a:r>
              <a:rPr lang="en-GB" sz="1600" b="1" dirty="0"/>
              <a:t>immediate</a:t>
            </a:r>
            <a:r>
              <a:rPr lang="en-GB" sz="1600" dirty="0"/>
              <a:t> limitation is generalization, since the marker detector was trained on footage from a limited range of pool environments.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4892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In the </a:t>
            </a:r>
            <a:r>
              <a:rPr lang="en-GB" sz="1600" b="1" dirty="0"/>
              <a:t>precision recall curve </a:t>
            </a:r>
            <a:r>
              <a:rPr lang="en-GB" sz="1600" dirty="0"/>
              <a:t>and </a:t>
            </a:r>
            <a:r>
              <a:rPr lang="en-GB" sz="1600" b="1" dirty="0"/>
              <a:t>confusion matrix</a:t>
            </a:r>
            <a:r>
              <a:rPr lang="en-GB" sz="1600" dirty="0"/>
              <a:t>, the marker confidence is </a:t>
            </a:r>
            <a:r>
              <a:rPr lang="en-GB" sz="1600" b="1" dirty="0"/>
              <a:t>seen</a:t>
            </a:r>
            <a:r>
              <a:rPr lang="en-GB" sz="1600" dirty="0"/>
              <a:t> to drop on unseen footage from the </a:t>
            </a:r>
            <a:r>
              <a:rPr lang="en-GB" sz="1600" b="1" dirty="0"/>
              <a:t>same facility </a:t>
            </a:r>
            <a:r>
              <a:rPr lang="en-GB" sz="1600" dirty="0"/>
              <a:t>under different lighting and pool water conditions.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9081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0814-33B6-0BED-81FB-D9F9F685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E928B-852B-48EE-4064-78B413195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E2D1C-B622-5EC3-A472-17B477B66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 err="1"/>
              <a:t>ViTPose</a:t>
            </a:r>
            <a:r>
              <a:rPr lang="en-GB" sz="1600" dirty="0"/>
              <a:t> was pre-trained on the </a:t>
            </a:r>
            <a:r>
              <a:rPr lang="en-GB" sz="1600" b="1" dirty="0"/>
              <a:t>terrestrial</a:t>
            </a:r>
            <a:r>
              <a:rPr lang="en-GB" sz="1600" dirty="0"/>
              <a:t> COCO dataset, creating a systematic domain gap in the aquatic environment. Resulting in a collapse in confidence at distal joints.</a:t>
            </a:r>
          </a:p>
          <a:p>
            <a:endParaRPr lang="en-GB" sz="1600" dirty="0"/>
          </a:p>
          <a:p>
            <a:r>
              <a:rPr lang="en-GB" sz="1600" dirty="0"/>
              <a:t>The current system also relies on a </a:t>
            </a:r>
            <a:r>
              <a:rPr lang="en-GB" sz="1600" b="1" dirty="0"/>
              <a:t>single</a:t>
            </a:r>
            <a:r>
              <a:rPr lang="en-GB" sz="1600" dirty="0"/>
              <a:t> camera angle, assuming </a:t>
            </a:r>
            <a:r>
              <a:rPr lang="en-GB" sz="1600" b="1" dirty="0"/>
              <a:t>approximately</a:t>
            </a:r>
            <a:r>
              <a:rPr lang="en-GB" sz="1600" dirty="0"/>
              <a:t> planar swimmer motion, which is not a </a:t>
            </a:r>
            <a:r>
              <a:rPr lang="en-GB" sz="1600" b="1" dirty="0"/>
              <a:t>completely</a:t>
            </a:r>
            <a:r>
              <a:rPr lang="en-GB" sz="1600" dirty="0"/>
              <a:t> unreasonable assumption for competitive swimming, but </a:t>
            </a:r>
            <a:r>
              <a:rPr lang="en-GB" sz="1600" b="1" dirty="0"/>
              <a:t>fails</a:t>
            </a:r>
            <a:r>
              <a:rPr lang="en-GB" sz="1600" dirty="0"/>
              <a:t> in open water swimming.</a:t>
            </a:r>
          </a:p>
          <a:p>
            <a:endParaRPr lang="en-GB" sz="1600" dirty="0"/>
          </a:p>
          <a:p>
            <a:r>
              <a:rPr lang="en-GB" sz="1600" dirty="0"/>
              <a:t>Finally, the ground truths were obtained from a </a:t>
            </a:r>
            <a:r>
              <a:rPr lang="en-GB" sz="1600" b="1" dirty="0"/>
              <a:t>single observer</a:t>
            </a:r>
            <a:r>
              <a:rPr lang="en-GB" sz="1600" dirty="0"/>
              <a:t>, which introduces a hidden bias in the evaluation of the system. </a:t>
            </a:r>
          </a:p>
          <a:p>
            <a:endParaRPr lang="en-GB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noProof="0" dirty="0"/>
              <a:t>[8m]</a:t>
            </a:r>
          </a:p>
          <a:p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62849-A1F9-782B-F88F-EA18620C5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3665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The highest priority </a:t>
            </a:r>
            <a:r>
              <a:rPr lang="en-GB" sz="1600" b="1" dirty="0"/>
              <a:t>improvement</a:t>
            </a:r>
            <a:r>
              <a:rPr lang="en-GB" sz="1600" dirty="0"/>
              <a:t> is to fine-tune the pose estimation model specifically on </a:t>
            </a:r>
            <a:r>
              <a:rPr lang="en-GB" sz="1600" b="1" dirty="0"/>
              <a:t>aquatic</a:t>
            </a:r>
            <a:r>
              <a:rPr lang="en-GB" sz="1600" dirty="0"/>
              <a:t> domain data.</a:t>
            </a:r>
          </a:p>
          <a:p>
            <a:endParaRPr lang="en-GB" sz="1600" dirty="0"/>
          </a:p>
          <a:p>
            <a:r>
              <a:rPr lang="en-GB" sz="1600" dirty="0"/>
              <a:t>Inertial measurement units could be used to fill in the </a:t>
            </a:r>
            <a:r>
              <a:rPr lang="en-GB" sz="1600" b="1" dirty="0"/>
              <a:t>gaps</a:t>
            </a:r>
            <a:r>
              <a:rPr lang="en-GB" sz="1600" dirty="0"/>
              <a:t> where marker detection is lost.</a:t>
            </a:r>
          </a:p>
          <a:p>
            <a:endParaRPr lang="en-GB" sz="1600" dirty="0"/>
          </a:p>
          <a:p>
            <a:r>
              <a:rPr lang="en-GB" sz="1600" dirty="0"/>
              <a:t>A </a:t>
            </a:r>
            <a:r>
              <a:rPr lang="en-GB" sz="1600" b="1" dirty="0"/>
              <a:t>temporal transformer </a:t>
            </a:r>
            <a:r>
              <a:rPr lang="en-GB" sz="1600" dirty="0"/>
              <a:t>could be implemented instead of treating each frame strictly </a:t>
            </a:r>
            <a:r>
              <a:rPr lang="en-GB" sz="1600" b="1" dirty="0"/>
              <a:t>individually</a:t>
            </a:r>
            <a:r>
              <a:rPr lang="en-GB" sz="1600" dirty="0"/>
              <a:t>,</a:t>
            </a:r>
          </a:p>
          <a:p>
            <a:endParaRPr lang="en-GB" sz="1600" dirty="0"/>
          </a:p>
          <a:p>
            <a:r>
              <a:rPr lang="en-GB" sz="1600" dirty="0"/>
              <a:t>And </a:t>
            </a:r>
            <a:r>
              <a:rPr lang="en-GB" sz="1600" b="1" dirty="0"/>
              <a:t>finally</a:t>
            </a:r>
            <a:r>
              <a:rPr lang="en-GB" sz="1600" dirty="0"/>
              <a:t>, multiple cameras or depth estimation, could be added to the </a:t>
            </a:r>
            <a:r>
              <a:rPr lang="en-GB" sz="1600" dirty="0" err="1"/>
              <a:t>setupto</a:t>
            </a:r>
            <a:r>
              <a:rPr lang="en-GB" sz="1600" dirty="0"/>
              <a:t> remove the </a:t>
            </a:r>
            <a:r>
              <a:rPr lang="en-GB" sz="1600" b="1" dirty="0"/>
              <a:t>assumption</a:t>
            </a:r>
            <a:r>
              <a:rPr lang="en-GB" sz="1600" dirty="0"/>
              <a:t> about planar motion.</a:t>
            </a:r>
          </a:p>
          <a:p>
            <a:endParaRPr lang="en-GB" sz="1600" dirty="0"/>
          </a:p>
          <a:p>
            <a:r>
              <a:rPr lang="en-GB" sz="1600" b="0" noProof="0" dirty="0"/>
              <a:t>[9m]</a:t>
            </a: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8942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To summarize,</a:t>
            </a:r>
          </a:p>
          <a:p>
            <a:endParaRPr lang="en-GB" sz="1600" dirty="0"/>
          </a:p>
          <a:p>
            <a:r>
              <a:rPr lang="en-GB" sz="1600" dirty="0"/>
              <a:t>In this project a </a:t>
            </a:r>
            <a:r>
              <a:rPr lang="en-GB" sz="1600" b="1" dirty="0"/>
              <a:t>mean absolute error</a:t>
            </a:r>
            <a:r>
              <a:rPr lang="en-GB" sz="1600" dirty="0"/>
              <a:t> of </a:t>
            </a:r>
            <a:r>
              <a:rPr lang="en-GB" sz="1600" b="1" dirty="0"/>
              <a:t>just</a:t>
            </a:r>
            <a:r>
              <a:rPr lang="en-GB" sz="1600" dirty="0"/>
              <a:t> over one second was achieved, providing actionable data for coaching and pace tracking.</a:t>
            </a:r>
          </a:p>
          <a:p>
            <a:endParaRPr lang="en-GB" sz="1600" dirty="0"/>
          </a:p>
          <a:p>
            <a:r>
              <a:rPr lang="en-GB" sz="1600" dirty="0"/>
              <a:t>The core AI contribution is the </a:t>
            </a:r>
            <a:r>
              <a:rPr lang="en-GB" sz="1600" b="1" dirty="0"/>
              <a:t>model in the loop pipeline</a:t>
            </a:r>
            <a:r>
              <a:rPr lang="en-GB" sz="1600" dirty="0"/>
              <a:t>: using SAM2 </a:t>
            </a:r>
            <a:r>
              <a:rPr lang="" sz="1600" dirty="0"/>
              <a:t>to pseudo-label underwater data.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Another core contribution is the </a:t>
            </a:r>
            <a:r>
              <a:rPr lang="en-GB" sz="1600" b="1" dirty="0"/>
              <a:t>novel methodology </a:t>
            </a:r>
            <a:r>
              <a:rPr lang="" sz="1600" dirty="0"/>
              <a:t>using 3D-printed markers to dynamically extract pixel-to-meter scales across varying pools.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And all together, these make metric swimming analysis </a:t>
            </a:r>
            <a:r>
              <a:rPr lang="en-GB" sz="1600" b="1" dirty="0"/>
              <a:t>much</a:t>
            </a:r>
            <a:r>
              <a:rPr lang="en-GB" sz="1600" dirty="0"/>
              <a:t> more accessible, as </a:t>
            </a:r>
            <a:r>
              <a:rPr lang="en-GB" sz="1600" b="1" dirty="0"/>
              <a:t>no</a:t>
            </a:r>
            <a:r>
              <a:rPr lang="en-GB" sz="1600" dirty="0"/>
              <a:t> expensive sensors, </a:t>
            </a:r>
            <a:r>
              <a:rPr lang="en-GB" sz="1600" b="1" dirty="0"/>
              <a:t>no</a:t>
            </a:r>
            <a:r>
              <a:rPr lang="en-GB" sz="1600" dirty="0"/>
              <a:t> fixed cameras, and </a:t>
            </a:r>
            <a:r>
              <a:rPr lang="en-GB" sz="1600" b="1" dirty="0"/>
              <a:t>no</a:t>
            </a:r>
            <a:r>
              <a:rPr lang="en-GB" sz="1600" dirty="0"/>
              <a:t> bespoke hardware is required. </a:t>
            </a:r>
          </a:p>
          <a:p>
            <a:endParaRPr lang="en-GB" sz="1600" dirty="0"/>
          </a:p>
          <a:p>
            <a:r>
              <a:rPr lang="en-GB" sz="1600" dirty="0"/>
              <a:t>This concludes the presentation. Questions?</a:t>
            </a:r>
            <a:br>
              <a:rPr lang="en-GB" sz="1600" dirty="0"/>
            </a:br>
            <a:br>
              <a:rPr lang="en-GB" sz="1600" dirty="0"/>
            </a:br>
            <a:r>
              <a:rPr lang="en-GB" sz="1600" b="0" noProof="0" dirty="0"/>
              <a:t>[10m]</a:t>
            </a: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91CF4-0850-4D20-9DB0-19AE2F79B5EF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6084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69227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9035" y="32766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128" y="2089356"/>
            <a:ext cx="9981743" cy="923330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127" y="3012687"/>
            <a:ext cx="9981743" cy="5662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49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1769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477" y="1639067"/>
            <a:ext cx="5432325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11769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117690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2645" y="1535113"/>
            <a:ext cx="544215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2645" y="2174875"/>
            <a:ext cx="544215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8591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0658" y="273050"/>
            <a:ext cx="70841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859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00600"/>
            <a:ext cx="11277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612775"/>
            <a:ext cx="11277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367338"/>
            <a:ext cx="11277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82316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9043416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A079-3A2A-5543-42A1-80E62AC8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A035F-7F4D-B93D-0C1C-7C688E2C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1BC3A-037E-EDB6-E3B3-7C6C9153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14D2C-5AD5-AD1B-35E4-B1B8F04F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34B0FB-9CA8-21FA-A965-22E8A1208A15}"/>
              </a:ext>
            </a:extLst>
          </p:cNvPr>
          <p:cNvCxnSpPr/>
          <p:nvPr userDrawn="1"/>
        </p:nvCxnSpPr>
        <p:spPr>
          <a:xfrm>
            <a:off x="457200" y="1417638"/>
            <a:ext cx="112776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78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509085B1-F5F3-B2DB-273C-4F4581E076E8}"/>
              </a:ext>
            </a:extLst>
          </p:cNvPr>
          <p:cNvSpPr/>
          <p:nvPr userDrawn="1"/>
        </p:nvSpPr>
        <p:spPr>
          <a:xfrm>
            <a:off x="8364212" y="-7530457"/>
            <a:ext cx="5486400" cy="5486400"/>
          </a:xfrm>
          <a:prstGeom prst="ellipse">
            <a:avLst/>
          </a:prstGeom>
          <a:solidFill>
            <a:srgbClr val="2D2A23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35DBAD-5E06-7D8E-E351-CFEE47FDF0E5}"/>
              </a:ext>
            </a:extLst>
          </p:cNvPr>
          <p:cNvSpPr/>
          <p:nvPr userDrawn="1"/>
        </p:nvSpPr>
        <p:spPr>
          <a:xfrm>
            <a:off x="-914400" y="-5601131"/>
            <a:ext cx="5486400" cy="5486400"/>
          </a:xfrm>
          <a:prstGeom prst="ellipse">
            <a:avLst/>
          </a:prstGeom>
          <a:solidFill>
            <a:srgbClr val="25281F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0163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38646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2190D3-E21F-207B-2E42-E6C1F1B9440E}"/>
              </a:ext>
            </a:extLst>
          </p:cNvPr>
          <p:cNvSpPr/>
          <p:nvPr userDrawn="1"/>
        </p:nvSpPr>
        <p:spPr>
          <a:xfrm>
            <a:off x="-2238099" y="-13615140"/>
            <a:ext cx="5486400" cy="5486400"/>
          </a:xfrm>
          <a:prstGeom prst="ellipse">
            <a:avLst/>
          </a:prstGeom>
          <a:solidFill>
            <a:srgbClr val="25281F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AE5FEC-B48D-A7F0-3D59-9415CA99A51E}"/>
              </a:ext>
            </a:extLst>
          </p:cNvPr>
          <p:cNvSpPr/>
          <p:nvPr userDrawn="1"/>
        </p:nvSpPr>
        <p:spPr>
          <a:xfrm>
            <a:off x="8169276" y="-12151464"/>
            <a:ext cx="4022724" cy="4022724"/>
          </a:xfrm>
          <a:prstGeom prst="ellipse">
            <a:avLst/>
          </a:prstGeom>
          <a:solidFill>
            <a:srgbClr val="2D2A23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E5B351-0FAB-E24C-80CC-10044B4E72F4}"/>
              </a:ext>
            </a:extLst>
          </p:cNvPr>
          <p:cNvSpPr/>
          <p:nvPr userDrawn="1"/>
        </p:nvSpPr>
        <p:spPr>
          <a:xfrm>
            <a:off x="9587344" y="-17940011"/>
            <a:ext cx="6841264" cy="6841264"/>
          </a:xfrm>
          <a:prstGeom prst="ellipse">
            <a:avLst/>
          </a:prstGeom>
          <a:solidFill>
            <a:srgbClr val="25281F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171FCCE-EF99-D9D8-9846-27A5698CF6D6}"/>
              </a:ext>
            </a:extLst>
          </p:cNvPr>
          <p:cNvSpPr/>
          <p:nvPr userDrawn="1"/>
        </p:nvSpPr>
        <p:spPr>
          <a:xfrm>
            <a:off x="2759936" y="-18000473"/>
            <a:ext cx="5757728" cy="5757728"/>
          </a:xfrm>
          <a:prstGeom prst="ellipse">
            <a:avLst/>
          </a:prstGeom>
          <a:solidFill>
            <a:srgbClr val="2D2A23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E0A9F75-BF74-54C8-5A14-E7BA019FD362}"/>
              </a:ext>
            </a:extLst>
          </p:cNvPr>
          <p:cNvSpPr/>
          <p:nvPr userDrawn="1"/>
        </p:nvSpPr>
        <p:spPr>
          <a:xfrm>
            <a:off x="3783141" y="-8826772"/>
            <a:ext cx="4132588" cy="4132588"/>
          </a:xfrm>
          <a:prstGeom prst="ellipse">
            <a:avLst/>
          </a:prstGeom>
          <a:solidFill>
            <a:srgbClr val="25281F"/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3.95833E-6 3.5368 " pathEditMode="relative" rAng="0" ptsTypes="AA">
                                      <p:cBhvr>
                                        <p:cTn id="6" dur="2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68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81481E-6 L 3.75E-6 3.54237 " pathEditMode="relative" rAng="0" ptsTypes="AA">
                                      <p:cBhvr>
                                        <p:cTn id="8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1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85185E-6 L 2.29167E-6 3.53681 " pathEditMode="relative" rAng="0" ptsTypes="AA">
                                      <p:cBhvr>
                                        <p:cTn id="10" dur="2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68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3.33333E-6 L 2.77556E-17 3.54236 " pathEditMode="relative" rAng="0" ptsTypes="AA">
                                      <p:cBhvr>
                                        <p:cTn id="12" dur="2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10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7 L 2.91667E-6 3.54236 " pathEditMode="relative" rAng="0" ptsTypes="AA">
                                      <p:cBhvr>
                                        <p:cTn id="14" dur="2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13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5.55112E-17 3.5368 " pathEditMode="relative" rAng="0" ptsTypes="AA">
                                      <p:cBhvr>
                                        <p:cTn id="16" dur="2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685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85185E-6 L 2.5E-6 3.54236 " pathEditMode="relative" rAng="0" ptsTypes="AA">
                                      <p:cBhvr>
                                        <p:cTn id="18" dur="2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9" grpId="0" animBg="1"/>
      <p:bldP spid="14" grpId="0" animBg="1"/>
      <p:bldP spid="25" grpId="0" animBg="1"/>
      <p:bldP spid="26" grpId="0" animBg="1"/>
      <p:bldP spid="27" grpId="0" animBg="1"/>
    </p:bld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35379C-37B7-DA89-BD78-6140C364A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112" y="5924296"/>
            <a:ext cx="3171825" cy="807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9062" y="1674674"/>
            <a:ext cx="119538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EFAE0"/>
                </a:solidFill>
                <a:latin typeface="Montserrat"/>
              </a:defRPr>
            </a:pPr>
            <a:r>
              <a:rPr lang="en-GB" sz="3600" noProof="0" dirty="0"/>
              <a:t>Dynamic Pixel-to-Metre Calibration in Competitive Swimming Using Lane Rope</a:t>
            </a:r>
          </a:p>
          <a:p>
            <a:pPr algn="ctr">
              <a:defRPr sz="5400" b="1">
                <a:solidFill>
                  <a:srgbClr val="FEFAE0"/>
                </a:solidFill>
                <a:latin typeface="Montserrat"/>
              </a:defRPr>
            </a:pPr>
            <a:r>
              <a:rPr lang="en-GB" sz="3600" noProof="0" dirty="0"/>
              <a:t>Markers: A Computer Vision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7038" y="4070776"/>
            <a:ext cx="481792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373"/>
                </a:solidFill>
                <a:latin typeface="Inter"/>
              </a:defRPr>
            </a:pPr>
            <a:r>
              <a:rPr lang="en-GB" noProof="0" dirty="0"/>
              <a:t>Daniel Pace</a:t>
            </a:r>
          </a:p>
          <a:p>
            <a:pPr algn="ctr">
              <a:defRPr sz="2400">
                <a:solidFill>
                  <a:srgbClr val="D4A373"/>
                </a:solidFill>
                <a:latin typeface="Inter"/>
              </a:defRPr>
            </a:pPr>
            <a:r>
              <a:rPr lang="en-GB" noProof="0" dirty="0"/>
              <a:t>Supervised by Prof. Vanessa Camilleri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94902C-9240-D6D6-2B56-5C730803B869}"/>
              </a:ext>
            </a:extLst>
          </p:cNvPr>
          <p:cNvCxnSpPr>
            <a:cxnSpLocks/>
          </p:cNvCxnSpPr>
          <p:nvPr/>
        </p:nvCxnSpPr>
        <p:spPr>
          <a:xfrm>
            <a:off x="2505075" y="3571875"/>
            <a:ext cx="721995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CDB60A0-DFD8-128B-F569-44D5788DD14D}"/>
              </a:ext>
            </a:extLst>
          </p:cNvPr>
          <p:cNvSpPr/>
          <p:nvPr/>
        </p:nvSpPr>
        <p:spPr>
          <a:xfrm>
            <a:off x="119062" y="6035546"/>
            <a:ext cx="36462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noProof="0" dirty="0">
                <a:solidFill>
                  <a:srgbClr val="BA0C2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B.Sc. IT (Hons.)</a:t>
            </a:r>
          </a:p>
          <a:p>
            <a:r>
              <a:rPr lang="en-GB" sz="1600" b="1" noProof="0" dirty="0">
                <a:solidFill>
                  <a:srgbClr val="BA0C2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DF0B-099F-E504-BB48-69E9A7D31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2E73-7374-C222-FF0B-0956CA57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noProof="0" dirty="0"/>
              <a:t>Chapters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336611-6201-E5FF-2F45-85E4643EC32D}"/>
              </a:ext>
            </a:extLst>
          </p:cNvPr>
          <p:cNvSpPr>
            <a:spLocks noChangeAspect="1"/>
          </p:cNvSpPr>
          <p:nvPr/>
        </p:nvSpPr>
        <p:spPr>
          <a:xfrm>
            <a:off x="723900" y="3833017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dirty="0"/>
              <a:t>Scale &amp; Kinematic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16222A-476A-BA28-C5F1-2F172439A70D}"/>
              </a:ext>
            </a:extLst>
          </p:cNvPr>
          <p:cNvSpPr>
            <a:spLocks noChangeAspect="1"/>
          </p:cNvSpPr>
          <p:nvPr/>
        </p:nvSpPr>
        <p:spPr>
          <a:xfrm>
            <a:off x="3455194" y="3833018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dirty="0"/>
              <a:t>Evaluation of Results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9A82B9-35FF-089A-1E20-D1DA9E1E809C}"/>
              </a:ext>
            </a:extLst>
          </p:cNvPr>
          <p:cNvSpPr>
            <a:spLocks noChangeAspect="1"/>
          </p:cNvSpPr>
          <p:nvPr/>
        </p:nvSpPr>
        <p:spPr>
          <a:xfrm>
            <a:off x="6241256" y="3833017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dirty="0"/>
              <a:t>Limitations &amp; Future Work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47280F-7831-A161-A0F3-83F36235DBD5}"/>
              </a:ext>
            </a:extLst>
          </p:cNvPr>
          <p:cNvSpPr>
            <a:spLocks noChangeAspect="1"/>
          </p:cNvSpPr>
          <p:nvPr/>
        </p:nvSpPr>
        <p:spPr>
          <a:xfrm>
            <a:off x="723900" y="1699420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noProof="0" dirty="0"/>
              <a:t>Introduction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D8172D-0070-72F7-E040-68A0A9C7A7F2}"/>
              </a:ext>
            </a:extLst>
          </p:cNvPr>
          <p:cNvSpPr>
            <a:spLocks noChangeAspect="1"/>
          </p:cNvSpPr>
          <p:nvPr/>
        </p:nvSpPr>
        <p:spPr>
          <a:xfrm>
            <a:off x="3455194" y="1699419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noProof="0" dirty="0"/>
              <a:t>Aims &amp; Objectives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ECDB93-6CEB-9D65-5B81-A77FBA53A341}"/>
              </a:ext>
            </a:extLst>
          </p:cNvPr>
          <p:cNvSpPr>
            <a:spLocks noChangeAspect="1"/>
          </p:cNvSpPr>
          <p:nvPr/>
        </p:nvSpPr>
        <p:spPr>
          <a:xfrm>
            <a:off x="6241256" y="1699420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dirty="0"/>
              <a:t>Marker Design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4B4B9C-4BDB-F2F8-451D-22CFD1C355DE}"/>
              </a:ext>
            </a:extLst>
          </p:cNvPr>
          <p:cNvSpPr>
            <a:spLocks noChangeAspect="1"/>
          </p:cNvSpPr>
          <p:nvPr/>
        </p:nvSpPr>
        <p:spPr>
          <a:xfrm>
            <a:off x="8972550" y="3833014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noProof="0" dirty="0"/>
              <a:t>Conclusion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2AFB4-73B0-BD45-DF48-F32593EF3410}"/>
              </a:ext>
            </a:extLst>
          </p:cNvPr>
          <p:cNvSpPr txBox="1"/>
          <p:nvPr/>
        </p:nvSpPr>
        <p:spPr>
          <a:xfrm>
            <a:off x="796709" y="1727994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1.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92A8BB-26BF-184B-3536-2D6509375171}"/>
              </a:ext>
            </a:extLst>
          </p:cNvPr>
          <p:cNvSpPr txBox="1"/>
          <p:nvPr/>
        </p:nvSpPr>
        <p:spPr>
          <a:xfrm>
            <a:off x="3531394" y="172799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2.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7B3881-1F67-6A45-3E92-AE9BCED0F74A}"/>
              </a:ext>
            </a:extLst>
          </p:cNvPr>
          <p:cNvSpPr txBox="1"/>
          <p:nvPr/>
        </p:nvSpPr>
        <p:spPr>
          <a:xfrm>
            <a:off x="6322219" y="172799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3.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D3F3F2-983D-0503-B8C9-8C04442FEDDD}"/>
              </a:ext>
            </a:extLst>
          </p:cNvPr>
          <p:cNvSpPr txBox="1"/>
          <p:nvPr/>
        </p:nvSpPr>
        <p:spPr>
          <a:xfrm>
            <a:off x="796709" y="3833018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5.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B1F726-15A3-A753-D7AB-9FD89D621D03}"/>
              </a:ext>
            </a:extLst>
          </p:cNvPr>
          <p:cNvSpPr txBox="1"/>
          <p:nvPr/>
        </p:nvSpPr>
        <p:spPr>
          <a:xfrm>
            <a:off x="3522334" y="383301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6.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B5EBF7-5A86-C849-2627-58E06E4D151B}"/>
              </a:ext>
            </a:extLst>
          </p:cNvPr>
          <p:cNvSpPr txBox="1"/>
          <p:nvPr/>
        </p:nvSpPr>
        <p:spPr>
          <a:xfrm>
            <a:off x="6317411" y="383329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7.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F3DB50-212D-63D5-2737-492CE7E427A4}"/>
              </a:ext>
            </a:extLst>
          </p:cNvPr>
          <p:cNvSpPr>
            <a:spLocks noChangeAspect="1"/>
          </p:cNvSpPr>
          <p:nvPr/>
        </p:nvSpPr>
        <p:spPr>
          <a:xfrm>
            <a:off x="8972550" y="1699419"/>
            <a:ext cx="2495550" cy="1325563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algn="ctr"/>
            <a:r>
              <a:rPr lang="en-GB" dirty="0"/>
              <a:t>Annotation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25C2BA-7116-8A8A-AFC6-AD45B0CE4C9F}"/>
              </a:ext>
            </a:extLst>
          </p:cNvPr>
          <p:cNvSpPr txBox="1"/>
          <p:nvPr/>
        </p:nvSpPr>
        <p:spPr>
          <a:xfrm>
            <a:off x="9053513" y="172799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4.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2BE600-2D1E-FC14-9FA5-A86B2C516108}"/>
              </a:ext>
            </a:extLst>
          </p:cNvPr>
          <p:cNvSpPr txBox="1"/>
          <p:nvPr/>
        </p:nvSpPr>
        <p:spPr>
          <a:xfrm>
            <a:off x="9058321" y="383329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2"/>
                </a:solidFill>
              </a:rPr>
              <a:t>8.</a:t>
            </a:r>
          </a:p>
        </p:txBody>
      </p:sp>
    </p:spTree>
    <p:extLst>
      <p:ext uri="{BB962C8B-B14F-4D97-AF65-F5344CB8AC3E}">
        <p14:creationId xmlns:p14="http://schemas.microsoft.com/office/powerpoint/2010/main" val="101946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24B6-05B3-4E2E-FB23-793F622B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gure card">
            <a:extLst>
              <a:ext uri="{FF2B5EF4-FFF2-40B4-BE49-F238E27FC236}">
                <a16:creationId xmlns:a16="http://schemas.microsoft.com/office/drawing/2014/main" id="{41046DFC-9BDE-0CFC-F1BF-211DC37F8D8E}"/>
              </a:ext>
            </a:extLst>
          </p:cNvPr>
          <p:cNvSpPr>
            <a:spLocks noChangeAspect="1"/>
          </p:cNvSpPr>
          <p:nvPr/>
        </p:nvSpPr>
        <p:spPr>
          <a:xfrm>
            <a:off x="457200" y="1800225"/>
            <a:ext cx="3630155" cy="4153688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5" name="caption card">
            <a:extLst>
              <a:ext uri="{FF2B5EF4-FFF2-40B4-BE49-F238E27FC236}">
                <a16:creationId xmlns:a16="http://schemas.microsoft.com/office/drawing/2014/main" id="{CC69510C-D15E-B2D2-69F4-CB4C658BFC04}"/>
              </a:ext>
            </a:extLst>
          </p:cNvPr>
          <p:cNvSpPr>
            <a:spLocks noChangeAspect="1"/>
          </p:cNvSpPr>
          <p:nvPr/>
        </p:nvSpPr>
        <p:spPr>
          <a:xfrm>
            <a:off x="654661" y="4733926"/>
            <a:ext cx="3235230" cy="1067586"/>
          </a:xfrm>
          <a:prstGeom prst="roundRect">
            <a:avLst>
              <a:gd name="adj" fmla="val 27558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image of sensors.</a:t>
            </a:r>
          </a:p>
        </p:txBody>
      </p:sp>
      <p:sp>
        <p:nvSpPr>
          <p:cNvPr id="6" name="image card">
            <a:extLst>
              <a:ext uri="{FF2B5EF4-FFF2-40B4-BE49-F238E27FC236}">
                <a16:creationId xmlns:a16="http://schemas.microsoft.com/office/drawing/2014/main" id="{AC620E6F-4404-B57C-5B39-CC2BBD51F217}"/>
              </a:ext>
            </a:extLst>
          </p:cNvPr>
          <p:cNvSpPr>
            <a:spLocks noChangeAspect="1"/>
          </p:cNvSpPr>
          <p:nvPr/>
        </p:nvSpPr>
        <p:spPr>
          <a:xfrm>
            <a:off x="654661" y="1997876"/>
            <a:ext cx="3235231" cy="2588185"/>
          </a:xfrm>
          <a:prstGeom prst="roundRect">
            <a:avLst>
              <a:gd name="adj" fmla="val 13220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996FF40-3F1A-FCA5-3F68-0DDF584A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3526"/>
            <a:ext cx="11277600" cy="1143000"/>
          </a:xfrm>
        </p:spPr>
        <p:txBody>
          <a:bodyPr>
            <a:normAutofit/>
          </a:bodyPr>
          <a:lstStyle/>
          <a:p>
            <a:r>
              <a:rPr lang="en-GB" noProof="0" dirty="0"/>
              <a:t>Introduction</a:t>
            </a:r>
          </a:p>
        </p:txBody>
      </p:sp>
      <p:grpSp>
        <p:nvGrpSpPr>
          <p:cNvPr id="14" name="annotation pipeline">
            <a:extLst>
              <a:ext uri="{FF2B5EF4-FFF2-40B4-BE49-F238E27FC236}">
                <a16:creationId xmlns:a16="http://schemas.microsoft.com/office/drawing/2014/main" id="{16627467-3DCD-6BE3-DE56-51D162624903}"/>
              </a:ext>
            </a:extLst>
          </p:cNvPr>
          <p:cNvGrpSpPr/>
          <p:nvPr/>
        </p:nvGrpSpPr>
        <p:grpSpPr>
          <a:xfrm>
            <a:off x="4693125" y="2300323"/>
            <a:ext cx="6762019" cy="3803636"/>
            <a:chOff x="4391389" y="1997876"/>
            <a:chExt cx="6762019" cy="38036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5912FA-5A01-A3CD-967F-B89B0AEC69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b="1" noProof="0" dirty="0"/>
                <a:t>No suitable dataset </a:t>
              </a:r>
              <a:r>
                <a:rPr lang="en-GB" noProof="0" dirty="0"/>
                <a:t>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</a:t>
              </a:r>
              <a:r>
                <a:rPr lang="en-GB" b="1" noProof="0" dirty="0"/>
                <a:t>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17" name="Diagram 16">
              <a:extLst>
                <a:ext uri="{FF2B5EF4-FFF2-40B4-BE49-F238E27FC236}">
                  <a16:creationId xmlns:a16="http://schemas.microsoft.com/office/drawing/2014/main" id="{193AE5A9-867F-77E9-42DA-8333FBC3123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2445291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sp>
        <p:nvSpPr>
          <p:cNvPr id="11" name="marker design card">
            <a:extLst>
              <a:ext uri="{FF2B5EF4-FFF2-40B4-BE49-F238E27FC236}">
                <a16:creationId xmlns:a16="http://schemas.microsoft.com/office/drawing/2014/main" id="{62D6E06E-31EC-76EB-4BC1-CD05C3AB8712}"/>
              </a:ext>
            </a:extLst>
          </p:cNvPr>
          <p:cNvSpPr>
            <a:spLocks noChangeAspect="1"/>
          </p:cNvSpPr>
          <p:nvPr/>
        </p:nvSpPr>
        <p:spPr>
          <a:xfrm>
            <a:off x="4693125" y="2300323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Final design decisions: 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Modular			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Cylindrical shape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Alternating black and white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5cm x 10cm segment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9 markers, spaced out every 2.5 metres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</p:txBody>
      </p:sp>
      <p:sp>
        <p:nvSpPr>
          <p:cNvPr id="8" name="aims &amp; objectives card">
            <a:extLst>
              <a:ext uri="{FF2B5EF4-FFF2-40B4-BE49-F238E27FC236}">
                <a16:creationId xmlns:a16="http://schemas.microsoft.com/office/drawing/2014/main" id="{A173E181-5354-3E39-2F3D-6F091299DBF4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The objectives were defined as: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Design</a:t>
            </a:r>
            <a:r>
              <a:rPr lang="en-GB" noProof="0" dirty="0"/>
              <a:t> underwater calibration markers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Build</a:t>
            </a:r>
            <a:r>
              <a:rPr lang="en-GB" noProof="0" dirty="0"/>
              <a:t> an annotated dataset via MITL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Establish</a:t>
            </a:r>
            <a:r>
              <a:rPr lang="en-GB" noProof="0" dirty="0"/>
              <a:t> dynamic pixel-to-metre scaling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Extract</a:t>
            </a:r>
            <a:r>
              <a:rPr lang="en-GB" noProof="0" dirty="0"/>
              <a:t> Kinematic metrics (velocity, trajectory)</a:t>
            </a:r>
          </a:p>
        </p:txBody>
      </p:sp>
      <p:sp>
        <p:nvSpPr>
          <p:cNvPr id="13" name="introduction card">
            <a:extLst>
              <a:ext uri="{FF2B5EF4-FFF2-40B4-BE49-F238E27FC236}">
                <a16:creationId xmlns:a16="http://schemas.microsoft.com/office/drawing/2014/main" id="{5E0E9211-DE37-2BB0-6956-53D6A0864D89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Performance analysis in swimming currently relies heavily on </a:t>
            </a:r>
            <a:r>
              <a:rPr lang="en-GB" b="1" noProof="0" dirty="0"/>
              <a:t>manual observations </a:t>
            </a:r>
            <a:r>
              <a:rPr lang="en-GB" noProof="0" dirty="0"/>
              <a:t>or </a:t>
            </a:r>
            <a:r>
              <a:rPr lang="en-GB" b="1" noProof="0" dirty="0"/>
              <a:t>expensive</a:t>
            </a:r>
            <a:r>
              <a:rPr lang="en-GB" noProof="0" dirty="0"/>
              <a:t> and </a:t>
            </a:r>
            <a:r>
              <a:rPr lang="en-GB" b="1" noProof="0" dirty="0"/>
              <a:t>intrusive sensors</a:t>
            </a:r>
            <a:r>
              <a:rPr lang="en-GB" noProof="0" dirty="0"/>
              <a:t>.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Aquatic environment is </a:t>
            </a:r>
            <a:r>
              <a:rPr lang="en-GB" b="1" noProof="0" dirty="0"/>
              <a:t>adversarial </a:t>
            </a:r>
            <a:r>
              <a:rPr lang="en-GB" noProof="0" dirty="0"/>
              <a:t>for</a:t>
            </a:r>
            <a:r>
              <a:rPr lang="en-GB" b="1" noProof="0" dirty="0"/>
              <a:t> </a:t>
            </a:r>
            <a:r>
              <a:rPr lang="en-GB" noProof="0" dirty="0"/>
              <a:t>Computer </a:t>
            </a:r>
            <a:r>
              <a:rPr lang="en-GB" dirty="0"/>
              <a:t>Vision </a:t>
            </a:r>
            <a:r>
              <a:rPr lang="en-GB" noProof="0" dirty="0"/>
              <a:t>(CV): refraction, turbulence, occlusions, caustics.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No </a:t>
            </a:r>
            <a:r>
              <a:rPr lang="en-GB" b="1" noProof="0" dirty="0"/>
              <a:t>standardized</a:t>
            </a:r>
            <a:r>
              <a:rPr lang="en-GB" noProof="0" dirty="0"/>
              <a:t>, </a:t>
            </a:r>
            <a:r>
              <a:rPr lang="en-GB" b="1" noProof="0" dirty="0"/>
              <a:t>low-cost</a:t>
            </a:r>
            <a:r>
              <a:rPr lang="en-GB" noProof="0" dirty="0"/>
              <a:t>, </a:t>
            </a:r>
            <a:r>
              <a:rPr lang="en-GB" b="1" noProof="0" dirty="0"/>
              <a:t>unintrusive</a:t>
            </a:r>
            <a:r>
              <a:rPr lang="en-GB" noProof="0" dirty="0"/>
              <a:t> metric extraction system exists.</a:t>
            </a:r>
          </a:p>
        </p:txBody>
      </p:sp>
    </p:spTree>
    <p:extLst>
      <p:ext uri="{BB962C8B-B14F-4D97-AF65-F5344CB8AC3E}">
        <p14:creationId xmlns:p14="http://schemas.microsoft.com/office/powerpoint/2010/main" val="153126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gure card">
            <a:extLst>
              <a:ext uri="{FF2B5EF4-FFF2-40B4-BE49-F238E27FC236}">
                <a16:creationId xmlns:a16="http://schemas.microsoft.com/office/drawing/2014/main" id="{F4F570E2-C59B-289D-3F03-7E50D1A7B546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4" name="image card">
            <a:extLst>
              <a:ext uri="{FF2B5EF4-FFF2-40B4-BE49-F238E27FC236}">
                <a16:creationId xmlns:a16="http://schemas.microsoft.com/office/drawing/2014/main" id="{58430B53-3B50-F75D-745F-8DAD369F715D}"/>
              </a:ext>
            </a:extLst>
          </p:cNvPr>
          <p:cNvSpPr>
            <a:spLocks noChangeAspect="1"/>
          </p:cNvSpPr>
          <p:nvPr/>
        </p:nvSpPr>
        <p:spPr>
          <a:xfrm>
            <a:off x="734888" y="1668913"/>
            <a:ext cx="3079056" cy="3520172"/>
          </a:xfrm>
          <a:prstGeom prst="roundRect">
            <a:avLst>
              <a:gd name="adj" fmla="val 610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5" name="caption card">
            <a:extLst>
              <a:ext uri="{FF2B5EF4-FFF2-40B4-BE49-F238E27FC236}">
                <a16:creationId xmlns:a16="http://schemas.microsoft.com/office/drawing/2014/main" id="{96CA8CF2-3161-6EC6-5E28-2EB780BB9C0D}"/>
              </a:ext>
            </a:extLst>
          </p:cNvPr>
          <p:cNvSpPr>
            <a:spLocks noChangeAspect="1"/>
          </p:cNvSpPr>
          <p:nvPr/>
        </p:nvSpPr>
        <p:spPr>
          <a:xfrm>
            <a:off x="732750" y="5257078"/>
            <a:ext cx="3079054" cy="777962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noProof="0" dirty="0">
                <a:solidFill>
                  <a:schemeClr val="bg1"/>
                </a:solidFill>
              </a:rPr>
              <a:t>A screenshot from the final output video.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8D9221-F4F7-E38B-31AA-319FE3C3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Aims &amp; Objectives</a:t>
            </a:r>
          </a:p>
        </p:txBody>
      </p:sp>
      <p:sp>
        <p:nvSpPr>
          <p:cNvPr id="7" name="scale &amp; kinematic analysis card">
            <a:extLst>
              <a:ext uri="{FF2B5EF4-FFF2-40B4-BE49-F238E27FC236}">
                <a16:creationId xmlns:a16="http://schemas.microsoft.com/office/drawing/2014/main" id="{2E34BD4B-D032-2237-2862-68BF011924F6}"/>
              </a:ext>
            </a:extLst>
          </p:cNvPr>
          <p:cNvSpPr>
            <a:spLocks noChangeAspect="1"/>
          </p:cNvSpPr>
          <p:nvPr/>
        </p:nvSpPr>
        <p:spPr>
          <a:xfrm>
            <a:off x="4695093" y="2300323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grpSp>
        <p:nvGrpSpPr>
          <p:cNvPr id="11" name="annotation pipeline">
            <a:extLst>
              <a:ext uri="{FF2B5EF4-FFF2-40B4-BE49-F238E27FC236}">
                <a16:creationId xmlns:a16="http://schemas.microsoft.com/office/drawing/2014/main" id="{7BFAB2CF-BD19-0F64-4225-2AFC38694F41}"/>
              </a:ext>
            </a:extLst>
          </p:cNvPr>
          <p:cNvGrpSpPr/>
          <p:nvPr/>
        </p:nvGrpSpPr>
        <p:grpSpPr>
          <a:xfrm>
            <a:off x="4696189" y="2300323"/>
            <a:ext cx="6762019" cy="3803636"/>
            <a:chOff x="4391389" y="1997876"/>
            <a:chExt cx="6762019" cy="380363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7DB3924-6A2B-2222-AC08-5F460C9439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b="1" noProof="0" dirty="0"/>
                <a:t>No suitable dataset </a:t>
              </a:r>
              <a:r>
                <a:rPr lang="en-GB" noProof="0" dirty="0"/>
                <a:t>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</a:t>
              </a:r>
              <a:r>
                <a:rPr lang="en-GB" b="1" noProof="0" dirty="0"/>
                <a:t>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14" name="Diagram 13">
              <a:extLst>
                <a:ext uri="{FF2B5EF4-FFF2-40B4-BE49-F238E27FC236}">
                  <a16:creationId xmlns:a16="http://schemas.microsoft.com/office/drawing/2014/main" id="{928BEA15-3EE4-0747-CD3C-33EEDA0D1D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94103224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sp>
        <p:nvSpPr>
          <p:cNvPr id="9" name="marker design card">
            <a:extLst>
              <a:ext uri="{FF2B5EF4-FFF2-40B4-BE49-F238E27FC236}">
                <a16:creationId xmlns:a16="http://schemas.microsoft.com/office/drawing/2014/main" id="{49E863E2-602F-C0A9-C102-F589E769D108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Final design decisions: 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Modular			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Cylindrical shape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Alternating black and white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5cm x 10cm segment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9 markers, spaced out every 2.5 metres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</p:txBody>
      </p:sp>
      <p:sp>
        <p:nvSpPr>
          <p:cNvPr id="6" name="aims &amp; objectives card">
            <a:extLst>
              <a:ext uri="{FF2B5EF4-FFF2-40B4-BE49-F238E27FC236}">
                <a16:creationId xmlns:a16="http://schemas.microsoft.com/office/drawing/2014/main" id="{7420A1B9-DFDE-3C2A-8635-DAF8795DC3FF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The objectives were defined as: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Design</a:t>
            </a:r>
            <a:r>
              <a:rPr lang="en-GB" noProof="0" dirty="0"/>
              <a:t> underwater calibration markers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Build</a:t>
            </a:r>
            <a:r>
              <a:rPr lang="en-GB" noProof="0" dirty="0"/>
              <a:t> an annotated dataset via MITL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Establish</a:t>
            </a:r>
            <a:r>
              <a:rPr lang="en-GB" noProof="0" dirty="0"/>
              <a:t> dynamic pixel-to-metre scaling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Extract</a:t>
            </a:r>
            <a:r>
              <a:rPr lang="en-GB" noProof="0" dirty="0"/>
              <a:t> Kinematic metrics (velocity, trajectory)</a:t>
            </a:r>
          </a:p>
        </p:txBody>
      </p:sp>
      <p:sp>
        <p:nvSpPr>
          <p:cNvPr id="8" name="introduction card">
            <a:extLst>
              <a:ext uri="{FF2B5EF4-FFF2-40B4-BE49-F238E27FC236}">
                <a16:creationId xmlns:a16="http://schemas.microsoft.com/office/drawing/2014/main" id="{A0856230-5894-7588-0EA4-074E99D53A0A}"/>
              </a:ext>
            </a:extLst>
          </p:cNvPr>
          <p:cNvSpPr>
            <a:spLocks noChangeAspect="1"/>
          </p:cNvSpPr>
          <p:nvPr/>
        </p:nvSpPr>
        <p:spPr>
          <a:xfrm>
            <a:off x="4391389" y="-4215605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Performance analysis in swimming currently relies heavily on </a:t>
            </a:r>
            <a:r>
              <a:rPr lang="en-GB" b="1" noProof="0" dirty="0"/>
              <a:t>manual observations </a:t>
            </a:r>
            <a:r>
              <a:rPr lang="en-GB" noProof="0" dirty="0"/>
              <a:t>or </a:t>
            </a:r>
            <a:r>
              <a:rPr lang="en-GB" b="1" noProof="0" dirty="0"/>
              <a:t>expensive</a:t>
            </a:r>
            <a:r>
              <a:rPr lang="en-GB" noProof="0" dirty="0"/>
              <a:t> and </a:t>
            </a:r>
            <a:r>
              <a:rPr lang="en-GB" b="1" noProof="0" dirty="0"/>
              <a:t>intrusive sensors</a:t>
            </a:r>
            <a:r>
              <a:rPr lang="en-GB" noProof="0" dirty="0"/>
              <a:t>.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Aquatic environment is </a:t>
            </a:r>
            <a:r>
              <a:rPr lang="en-GB" b="1" noProof="0" dirty="0"/>
              <a:t>adversarial </a:t>
            </a:r>
            <a:r>
              <a:rPr lang="en-GB" noProof="0" dirty="0"/>
              <a:t>for</a:t>
            </a:r>
            <a:r>
              <a:rPr lang="en-GB" b="1" noProof="0" dirty="0"/>
              <a:t> </a:t>
            </a:r>
            <a:r>
              <a:rPr lang="en-GB" noProof="0" dirty="0"/>
              <a:t>Computer </a:t>
            </a:r>
            <a:r>
              <a:rPr lang="en-GB" dirty="0"/>
              <a:t>Vision </a:t>
            </a:r>
            <a:r>
              <a:rPr lang="en-GB" noProof="0" dirty="0"/>
              <a:t>(CV): refraction, turbulence, occlusions, caustics.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No </a:t>
            </a:r>
            <a:r>
              <a:rPr lang="en-GB" b="1" noProof="0" dirty="0"/>
              <a:t>standardized</a:t>
            </a:r>
            <a:r>
              <a:rPr lang="en-GB" noProof="0" dirty="0"/>
              <a:t>, </a:t>
            </a:r>
            <a:r>
              <a:rPr lang="en-GB" b="1" noProof="0" dirty="0"/>
              <a:t>low-cost</a:t>
            </a:r>
            <a:r>
              <a:rPr lang="en-GB" noProof="0" dirty="0"/>
              <a:t>, </a:t>
            </a:r>
            <a:r>
              <a:rPr lang="en-GB" b="1" noProof="0" dirty="0"/>
              <a:t>unintrusive</a:t>
            </a:r>
            <a:r>
              <a:rPr lang="en-GB" noProof="0" dirty="0"/>
              <a:t> metric extraction system exists.</a:t>
            </a:r>
          </a:p>
        </p:txBody>
      </p:sp>
    </p:spTree>
    <p:extLst>
      <p:ext uri="{BB962C8B-B14F-4D97-AF65-F5344CB8AC3E}">
        <p14:creationId xmlns:p14="http://schemas.microsoft.com/office/powerpoint/2010/main" val="694160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5A3E-9610-CF77-ADE9-019E63DF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A15A1C81-F2DB-F9F1-FF28-A07DA5D398F3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9" name="image card">
            <a:extLst>
              <a:ext uri="{FF2B5EF4-FFF2-40B4-BE49-F238E27FC236}">
                <a16:creationId xmlns:a16="http://schemas.microsoft.com/office/drawing/2014/main" id="{D446B9FE-89A3-62CB-80EC-C1993BC9EEA3}"/>
              </a:ext>
            </a:extLst>
          </p:cNvPr>
          <p:cNvSpPr>
            <a:spLocks noChangeAspect="1"/>
          </p:cNvSpPr>
          <p:nvPr/>
        </p:nvSpPr>
        <p:spPr>
          <a:xfrm>
            <a:off x="734888" y="1668913"/>
            <a:ext cx="3079056" cy="3520172"/>
          </a:xfrm>
          <a:prstGeom prst="roundRect">
            <a:avLst>
              <a:gd name="adj" fmla="val 610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8" name="caption card">
            <a:extLst>
              <a:ext uri="{FF2B5EF4-FFF2-40B4-BE49-F238E27FC236}">
                <a16:creationId xmlns:a16="http://schemas.microsoft.com/office/drawing/2014/main" id="{184BE396-815A-617B-8FF5-D65A57B03CF2}"/>
              </a:ext>
            </a:extLst>
          </p:cNvPr>
          <p:cNvSpPr>
            <a:spLocks noChangeAspect="1"/>
          </p:cNvSpPr>
          <p:nvPr/>
        </p:nvSpPr>
        <p:spPr>
          <a:xfrm>
            <a:off x="732750" y="5257078"/>
            <a:ext cx="3079054" cy="777962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noProof="0" dirty="0">
                <a:solidFill>
                  <a:schemeClr val="bg1"/>
                </a:solidFill>
              </a:rPr>
              <a:t>The designed markers in use.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BE86355-3EFD-8CEA-6CE8-86C40AE8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Marker Design</a:t>
            </a:r>
          </a:p>
        </p:txBody>
      </p:sp>
      <p:sp>
        <p:nvSpPr>
          <p:cNvPr id="22" name="evaluation of results card">
            <a:extLst>
              <a:ext uri="{FF2B5EF4-FFF2-40B4-BE49-F238E27FC236}">
                <a16:creationId xmlns:a16="http://schemas.microsoft.com/office/drawing/2014/main" id="{8F8C8B16-1CC4-77DC-4B13-8DC432D196D0}"/>
              </a:ext>
            </a:extLst>
          </p:cNvPr>
          <p:cNvSpPr>
            <a:spLocks noChangeAspect="1"/>
          </p:cNvSpPr>
          <p:nvPr/>
        </p:nvSpPr>
        <p:spPr>
          <a:xfrm>
            <a:off x="4696188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25" name="scale &amp; kinematic analysis card">
            <a:extLst>
              <a:ext uri="{FF2B5EF4-FFF2-40B4-BE49-F238E27FC236}">
                <a16:creationId xmlns:a16="http://schemas.microsoft.com/office/drawing/2014/main" id="{C3E260B8-71B9-7123-8281-30C646C273F0}"/>
              </a:ext>
            </a:extLst>
          </p:cNvPr>
          <p:cNvSpPr>
            <a:spLocks noChangeAspect="1"/>
          </p:cNvSpPr>
          <p:nvPr/>
        </p:nvSpPr>
        <p:spPr>
          <a:xfrm>
            <a:off x="4696187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grpSp>
        <p:nvGrpSpPr>
          <p:cNvPr id="7" name="annotation pipeline">
            <a:extLst>
              <a:ext uri="{FF2B5EF4-FFF2-40B4-BE49-F238E27FC236}">
                <a16:creationId xmlns:a16="http://schemas.microsoft.com/office/drawing/2014/main" id="{C263449B-0E4C-312E-60DF-3A3BD2D2D4D9}"/>
              </a:ext>
            </a:extLst>
          </p:cNvPr>
          <p:cNvGrpSpPr/>
          <p:nvPr/>
        </p:nvGrpSpPr>
        <p:grpSpPr>
          <a:xfrm>
            <a:off x="4543789" y="2150276"/>
            <a:ext cx="6762019" cy="3803636"/>
            <a:chOff x="4391389" y="1997876"/>
            <a:chExt cx="6762019" cy="380363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595B6BD-BFD3-6FC1-B0A5-6BD2EDFBC9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b="1" noProof="0" dirty="0"/>
                <a:t>No suitable dataset </a:t>
              </a:r>
              <a:r>
                <a:rPr lang="en-GB" noProof="0" dirty="0"/>
                <a:t>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</a:t>
              </a:r>
              <a:r>
                <a:rPr lang="en-GB" b="1" noProof="0" dirty="0"/>
                <a:t>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90BD3E9E-BF19-B050-809A-7386CD13F9B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91912256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sp>
        <p:nvSpPr>
          <p:cNvPr id="6" name="marker design card">
            <a:extLst>
              <a:ext uri="{FF2B5EF4-FFF2-40B4-BE49-F238E27FC236}">
                <a16:creationId xmlns:a16="http://schemas.microsoft.com/office/drawing/2014/main" id="{CB8848FE-F7F6-6256-A731-BD5CCE2FF451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Final design decisions: 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Modular			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Cylindrical shape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Alternating black and white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5cm x 10cm segment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9 markers, spaced out every 2.5 metres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</p:txBody>
      </p:sp>
      <p:sp>
        <p:nvSpPr>
          <p:cNvPr id="4" name="aims &amp; objectives card">
            <a:extLst>
              <a:ext uri="{FF2B5EF4-FFF2-40B4-BE49-F238E27FC236}">
                <a16:creationId xmlns:a16="http://schemas.microsoft.com/office/drawing/2014/main" id="{F1F7C52D-2198-BE8F-AD97-A7888650D8AF}"/>
              </a:ext>
            </a:extLst>
          </p:cNvPr>
          <p:cNvSpPr>
            <a:spLocks noChangeAspect="1"/>
          </p:cNvSpPr>
          <p:nvPr/>
        </p:nvSpPr>
        <p:spPr>
          <a:xfrm>
            <a:off x="4391386" y="-4183402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The objectives were defined as: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Design</a:t>
            </a:r>
            <a:r>
              <a:rPr lang="en-GB" noProof="0" dirty="0"/>
              <a:t> underwater calibration markers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Build</a:t>
            </a:r>
            <a:r>
              <a:rPr lang="en-GB" noProof="0" dirty="0"/>
              <a:t> an annotated dataset via MITL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Establish</a:t>
            </a:r>
            <a:r>
              <a:rPr lang="en-GB" noProof="0" dirty="0"/>
              <a:t> dynamic pixel-to-metre scaling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b="1" noProof="0" dirty="0"/>
              <a:t>Extract</a:t>
            </a:r>
            <a:r>
              <a:rPr lang="en-GB" noProof="0" dirty="0"/>
              <a:t> Kinematic metrics (velocity, trajectory)</a:t>
            </a:r>
          </a:p>
        </p:txBody>
      </p:sp>
    </p:spTree>
    <p:extLst>
      <p:ext uri="{BB962C8B-B14F-4D97-AF65-F5344CB8AC3E}">
        <p14:creationId xmlns:p14="http://schemas.microsoft.com/office/powerpoint/2010/main" val="4166572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B5F5-D03C-D138-72E2-8538EC8A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igure card">
            <a:extLst>
              <a:ext uri="{FF2B5EF4-FFF2-40B4-BE49-F238E27FC236}">
                <a16:creationId xmlns:a16="http://schemas.microsoft.com/office/drawing/2014/main" id="{BFDA094F-94F4-A716-58A3-BC29BF3B39B0}"/>
              </a:ext>
            </a:extLst>
          </p:cNvPr>
          <p:cNvSpPr>
            <a:spLocks noChangeAspect="1"/>
          </p:cNvSpPr>
          <p:nvPr/>
        </p:nvSpPr>
        <p:spPr>
          <a:xfrm>
            <a:off x="457200" y="1714500"/>
            <a:ext cx="3630155" cy="408701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11" name="caption card">
            <a:extLst>
              <a:ext uri="{FF2B5EF4-FFF2-40B4-BE49-F238E27FC236}">
                <a16:creationId xmlns:a16="http://schemas.microsoft.com/office/drawing/2014/main" id="{E851CCEA-55E3-F848-F0E5-8B9BED25DEBE}"/>
              </a:ext>
            </a:extLst>
          </p:cNvPr>
          <p:cNvSpPr>
            <a:spLocks noChangeAspect="1"/>
          </p:cNvSpPr>
          <p:nvPr/>
        </p:nvSpPr>
        <p:spPr>
          <a:xfrm>
            <a:off x="732750" y="4406557"/>
            <a:ext cx="3079054" cy="1143000"/>
          </a:xfrm>
          <a:prstGeom prst="roundRect">
            <a:avLst>
              <a:gd name="adj" fmla="val 24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GB" noProof="0" dirty="0">
                <a:solidFill>
                  <a:schemeClr val="bg1"/>
                </a:solidFill>
              </a:rPr>
              <a:t>The custom human verification tool.</a:t>
            </a:r>
          </a:p>
        </p:txBody>
      </p:sp>
      <p:sp>
        <p:nvSpPr>
          <p:cNvPr id="13" name="image card">
            <a:extLst>
              <a:ext uri="{FF2B5EF4-FFF2-40B4-BE49-F238E27FC236}">
                <a16:creationId xmlns:a16="http://schemas.microsoft.com/office/drawing/2014/main" id="{2B29FC39-3231-63B6-35D7-00D3468925FA}"/>
              </a:ext>
            </a:extLst>
          </p:cNvPr>
          <p:cNvSpPr>
            <a:spLocks noChangeAspect="1"/>
          </p:cNvSpPr>
          <p:nvPr/>
        </p:nvSpPr>
        <p:spPr>
          <a:xfrm>
            <a:off x="732748" y="1997876"/>
            <a:ext cx="3079056" cy="2283222"/>
          </a:xfrm>
          <a:prstGeom prst="roundRect">
            <a:avLst>
              <a:gd name="adj" fmla="val 13220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531C921-83FB-4BB6-E9F2-295CDF30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Annotation Pipeline</a:t>
            </a:r>
          </a:p>
        </p:txBody>
      </p:sp>
      <p:sp>
        <p:nvSpPr>
          <p:cNvPr id="23" name="limitations card">
            <a:extLst>
              <a:ext uri="{FF2B5EF4-FFF2-40B4-BE49-F238E27FC236}">
                <a16:creationId xmlns:a16="http://schemas.microsoft.com/office/drawing/2014/main" id="{27182956-F383-ACD4-F6C4-E805685BA79A}"/>
              </a:ext>
            </a:extLst>
          </p:cNvPr>
          <p:cNvSpPr>
            <a:spLocks noChangeAspect="1"/>
          </p:cNvSpPr>
          <p:nvPr/>
        </p:nvSpPr>
        <p:spPr>
          <a:xfrm>
            <a:off x="4695423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22" name="evaluation of results card">
            <a:extLst>
              <a:ext uri="{FF2B5EF4-FFF2-40B4-BE49-F238E27FC236}">
                <a16:creationId xmlns:a16="http://schemas.microsoft.com/office/drawing/2014/main" id="{69DE77AD-5819-6B65-8FE5-E07B0C36F42A}"/>
              </a:ext>
            </a:extLst>
          </p:cNvPr>
          <p:cNvSpPr>
            <a:spLocks noChangeAspect="1"/>
          </p:cNvSpPr>
          <p:nvPr/>
        </p:nvSpPr>
        <p:spPr>
          <a:xfrm>
            <a:off x="4695423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21" name="scale &amp; kinematic analysis card">
            <a:extLst>
              <a:ext uri="{FF2B5EF4-FFF2-40B4-BE49-F238E27FC236}">
                <a16:creationId xmlns:a16="http://schemas.microsoft.com/office/drawing/2014/main" id="{4491D887-4933-F898-7BE5-56BD996A3A2A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grpSp>
        <p:nvGrpSpPr>
          <p:cNvPr id="18" name="annotation pipeline">
            <a:extLst>
              <a:ext uri="{FF2B5EF4-FFF2-40B4-BE49-F238E27FC236}">
                <a16:creationId xmlns:a16="http://schemas.microsoft.com/office/drawing/2014/main" id="{3A5098CB-F88D-DEE7-E5CD-A1D6B21E596E}"/>
              </a:ext>
            </a:extLst>
          </p:cNvPr>
          <p:cNvGrpSpPr/>
          <p:nvPr/>
        </p:nvGrpSpPr>
        <p:grpSpPr>
          <a:xfrm>
            <a:off x="4391389" y="1997876"/>
            <a:ext cx="6762019" cy="3803636"/>
            <a:chOff x="4391389" y="1997876"/>
            <a:chExt cx="6762019" cy="380363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C466C7-FD80-29D4-9465-B274A36B9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b="1" noProof="0" dirty="0"/>
                <a:t>No suitable dataset </a:t>
              </a:r>
              <a:r>
                <a:rPr lang="en-GB" noProof="0" dirty="0"/>
                <a:t>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</a:t>
              </a:r>
              <a:r>
                <a:rPr lang="en-GB" b="1" noProof="0" dirty="0"/>
                <a:t>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9" name="Diagram 8">
              <a:extLst>
                <a:ext uri="{FF2B5EF4-FFF2-40B4-BE49-F238E27FC236}">
                  <a16:creationId xmlns:a16="http://schemas.microsoft.com/office/drawing/2014/main" id="{4F0D40B8-B7E8-6416-665A-1F6DC5EDD87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62408952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sp>
        <p:nvSpPr>
          <p:cNvPr id="3" name="marker design card">
            <a:extLst>
              <a:ext uri="{FF2B5EF4-FFF2-40B4-BE49-F238E27FC236}">
                <a16:creationId xmlns:a16="http://schemas.microsoft.com/office/drawing/2014/main" id="{CB0EE72E-5F11-2509-D2F9-61F41E7EC36E}"/>
              </a:ext>
            </a:extLst>
          </p:cNvPr>
          <p:cNvSpPr>
            <a:spLocks noChangeAspect="1"/>
          </p:cNvSpPr>
          <p:nvPr/>
        </p:nvSpPr>
        <p:spPr>
          <a:xfrm>
            <a:off x="4391389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GB" noProof="0" dirty="0"/>
              <a:t>Final design decisions: 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Modular			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Cylindrical shape	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Alternating black and white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5cm x 10cm segment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9 markers, spaced out every 2.5 metres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1505761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7D09-5675-7E38-96ED-13BDF011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8F4F2968-7F5D-D188-36AB-DF07ED3E4839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8" name="image card">
            <a:extLst>
              <a:ext uri="{FF2B5EF4-FFF2-40B4-BE49-F238E27FC236}">
                <a16:creationId xmlns:a16="http://schemas.microsoft.com/office/drawing/2014/main" id="{564EC69D-8A5B-7FD5-DB73-A836C7B40E1B}"/>
              </a:ext>
            </a:extLst>
          </p:cNvPr>
          <p:cNvSpPr>
            <a:spLocks noChangeAspect="1"/>
          </p:cNvSpPr>
          <p:nvPr/>
        </p:nvSpPr>
        <p:spPr>
          <a:xfrm>
            <a:off x="734888" y="1668913"/>
            <a:ext cx="3079056" cy="3520172"/>
          </a:xfrm>
          <a:prstGeom prst="roundRect">
            <a:avLst>
              <a:gd name="adj" fmla="val 610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9" name="caption card">
            <a:extLst>
              <a:ext uri="{FF2B5EF4-FFF2-40B4-BE49-F238E27FC236}">
                <a16:creationId xmlns:a16="http://schemas.microsoft.com/office/drawing/2014/main" id="{2ABD401E-28AE-8272-FB10-8FE36AB313F8}"/>
              </a:ext>
            </a:extLst>
          </p:cNvPr>
          <p:cNvSpPr>
            <a:spLocks noChangeAspect="1"/>
          </p:cNvSpPr>
          <p:nvPr/>
        </p:nvSpPr>
        <p:spPr>
          <a:xfrm>
            <a:off x="732750" y="5257078"/>
            <a:ext cx="3079054" cy="777962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noProof="0" dirty="0">
                <a:solidFill>
                  <a:schemeClr val="bg1"/>
                </a:solidFill>
              </a:rPr>
              <a:t>Kinematic profiles for the full 50 m sequence.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0EDF4C4-8D45-7F24-8B19-16954AE7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Scale &amp; Kinematic Analysis</a:t>
            </a:r>
          </a:p>
        </p:txBody>
      </p:sp>
      <p:sp>
        <p:nvSpPr>
          <p:cNvPr id="20" name="future work card">
            <a:extLst>
              <a:ext uri="{FF2B5EF4-FFF2-40B4-BE49-F238E27FC236}">
                <a16:creationId xmlns:a16="http://schemas.microsoft.com/office/drawing/2014/main" id="{94D3FD8A-0E2F-A309-2D09-291B2D56F3E5}"/>
              </a:ext>
            </a:extLst>
          </p:cNvPr>
          <p:cNvSpPr>
            <a:spLocks noChangeAspect="1"/>
          </p:cNvSpPr>
          <p:nvPr/>
        </p:nvSpPr>
        <p:spPr>
          <a:xfrm>
            <a:off x="4696188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Fine-tune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IMU fusion 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Temporal transformer 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Multi-camera setup or 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3" name="limitations card">
            <a:extLst>
              <a:ext uri="{FF2B5EF4-FFF2-40B4-BE49-F238E27FC236}">
                <a16:creationId xmlns:a16="http://schemas.microsoft.com/office/drawing/2014/main" id="{893388C7-AF54-80AE-4417-91FEAC2857BC}"/>
              </a:ext>
            </a:extLst>
          </p:cNvPr>
          <p:cNvSpPr>
            <a:spLocks noChangeAspect="1"/>
          </p:cNvSpPr>
          <p:nvPr/>
        </p:nvSpPr>
        <p:spPr>
          <a:xfrm>
            <a:off x="4695423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18" name="evaluation of results card">
            <a:extLst>
              <a:ext uri="{FF2B5EF4-FFF2-40B4-BE49-F238E27FC236}">
                <a16:creationId xmlns:a16="http://schemas.microsoft.com/office/drawing/2014/main" id="{7E83ED00-A878-562E-ED3D-CA788C7A880E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6" name="scale &amp; kinematic analysis card">
            <a:extLst>
              <a:ext uri="{FF2B5EF4-FFF2-40B4-BE49-F238E27FC236}">
                <a16:creationId xmlns:a16="http://schemas.microsoft.com/office/drawing/2014/main" id="{CC81E2C0-A513-995E-7098-BED69BE753B9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grpSp>
        <p:nvGrpSpPr>
          <p:cNvPr id="11" name="annotation pipeline card">
            <a:extLst>
              <a:ext uri="{FF2B5EF4-FFF2-40B4-BE49-F238E27FC236}">
                <a16:creationId xmlns:a16="http://schemas.microsoft.com/office/drawing/2014/main" id="{A8D856C4-97D1-E98D-1CAB-3A99DD4B1CB1}"/>
              </a:ext>
            </a:extLst>
          </p:cNvPr>
          <p:cNvGrpSpPr/>
          <p:nvPr/>
        </p:nvGrpSpPr>
        <p:grpSpPr>
          <a:xfrm>
            <a:off x="4391389" y="-4201304"/>
            <a:ext cx="6762019" cy="3803636"/>
            <a:chOff x="4391389" y="1997876"/>
            <a:chExt cx="6762019" cy="380363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7840C6-C27F-C5E7-DCDD-2EAA8896A9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noProof="0" dirty="0"/>
                <a:t>No suitable dataset 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14" name="Diagram 13">
              <a:extLst>
                <a:ext uri="{FF2B5EF4-FFF2-40B4-BE49-F238E27FC236}">
                  <a16:creationId xmlns:a16="http://schemas.microsoft.com/office/drawing/2014/main" id="{C7CEE5C6-643A-E911-57B4-4CA6028B3A7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81397938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61923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566F-A471-D256-B8FC-0E7652AA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card">
            <a:extLst>
              <a:ext uri="{FF2B5EF4-FFF2-40B4-BE49-F238E27FC236}">
                <a16:creationId xmlns:a16="http://schemas.microsoft.com/office/drawing/2014/main" id="{9DA66FAF-2CA8-FAA3-1274-EE61CA3D88EC}"/>
              </a:ext>
            </a:extLst>
          </p:cNvPr>
          <p:cNvSpPr>
            <a:spLocks noChangeAspect="1"/>
          </p:cNvSpPr>
          <p:nvPr/>
        </p:nvSpPr>
        <p:spPr>
          <a:xfrm>
            <a:off x="4946113" y="118567"/>
            <a:ext cx="5791200" cy="6620866"/>
          </a:xfrm>
          <a:prstGeom prst="roundRect">
            <a:avLst>
              <a:gd name="adj" fmla="val 610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6" name="caption card">
            <a:extLst>
              <a:ext uri="{FF2B5EF4-FFF2-40B4-BE49-F238E27FC236}">
                <a16:creationId xmlns:a16="http://schemas.microsoft.com/office/drawing/2014/main" id="{6A092AB9-F05F-A83D-B582-96E8EB7B68AA}"/>
              </a:ext>
            </a:extLst>
          </p:cNvPr>
          <p:cNvSpPr>
            <a:spLocks noChangeAspect="1"/>
          </p:cNvSpPr>
          <p:nvPr/>
        </p:nvSpPr>
        <p:spPr>
          <a:xfrm>
            <a:off x="1454687" y="1901857"/>
            <a:ext cx="3079054" cy="3054285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noProof="0" dirty="0">
                <a:solidFill>
                  <a:schemeClr val="bg1"/>
                </a:solidFill>
              </a:rPr>
              <a:t>Kinematic profiles for the full 50 m sequence.</a:t>
            </a:r>
            <a:endParaRPr lang="en-GB" dirty="0">
              <a:solidFill>
                <a:schemeClr val="bg1"/>
              </a:solidFill>
            </a:endParaRPr>
          </a:p>
          <a:p>
            <a:endParaRPr lang="en-GB" noProof="0" dirty="0">
              <a:solidFill>
                <a:schemeClr val="bg1"/>
              </a:solidFill>
            </a:endParaRPr>
          </a:p>
          <a:p>
            <a:r>
              <a:rPr lang="en-GB" noProof="0" dirty="0">
                <a:solidFill>
                  <a:schemeClr val="bg1"/>
                </a:solidFill>
              </a:rPr>
              <a:t>Swimmer centroid and wrists trajectory, velocity, and speed.</a:t>
            </a:r>
          </a:p>
        </p:txBody>
      </p:sp>
    </p:spTree>
    <p:extLst>
      <p:ext uri="{BB962C8B-B14F-4D97-AF65-F5344CB8AC3E}">
        <p14:creationId xmlns:p14="http://schemas.microsoft.com/office/powerpoint/2010/main" val="532450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3210-3DD7-E20A-9607-93B47D90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igure card">
            <a:extLst>
              <a:ext uri="{FF2B5EF4-FFF2-40B4-BE49-F238E27FC236}">
                <a16:creationId xmlns:a16="http://schemas.microsoft.com/office/drawing/2014/main" id="{87748D7D-37DE-94D5-FECA-E1B41DC07498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12" name="image card">
            <a:extLst>
              <a:ext uri="{FF2B5EF4-FFF2-40B4-BE49-F238E27FC236}">
                <a16:creationId xmlns:a16="http://schemas.microsoft.com/office/drawing/2014/main" id="{7ACB2CD3-63E1-09F2-CCA6-B109BC49EEB1}"/>
              </a:ext>
            </a:extLst>
          </p:cNvPr>
          <p:cNvSpPr>
            <a:spLocks noChangeAspect="1"/>
          </p:cNvSpPr>
          <p:nvPr/>
        </p:nvSpPr>
        <p:spPr>
          <a:xfrm>
            <a:off x="734888" y="1668913"/>
            <a:ext cx="3079056" cy="3520172"/>
          </a:xfrm>
          <a:prstGeom prst="roundRect">
            <a:avLst>
              <a:gd name="adj" fmla="val 610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15" name="caption card">
            <a:extLst>
              <a:ext uri="{FF2B5EF4-FFF2-40B4-BE49-F238E27FC236}">
                <a16:creationId xmlns:a16="http://schemas.microsoft.com/office/drawing/2014/main" id="{90E40F6D-3986-2485-9C75-F7D5FA7F7839}"/>
              </a:ext>
            </a:extLst>
          </p:cNvPr>
          <p:cNvSpPr>
            <a:spLocks noChangeAspect="1"/>
          </p:cNvSpPr>
          <p:nvPr/>
        </p:nvSpPr>
        <p:spPr>
          <a:xfrm>
            <a:off x="732750" y="5257078"/>
            <a:ext cx="3079054" cy="777962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noProof="0" dirty="0">
                <a:solidFill>
                  <a:schemeClr val="bg1"/>
                </a:solidFill>
              </a:rPr>
              <a:t>Kinematic profiles for the full 50 m sequence.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85E8A09-922E-1481-406D-F1CE8BD4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Scale &amp; Kinematic Analysis</a:t>
            </a:r>
          </a:p>
        </p:txBody>
      </p:sp>
      <p:sp>
        <p:nvSpPr>
          <p:cNvPr id="20" name="future work card">
            <a:extLst>
              <a:ext uri="{FF2B5EF4-FFF2-40B4-BE49-F238E27FC236}">
                <a16:creationId xmlns:a16="http://schemas.microsoft.com/office/drawing/2014/main" id="{19E5ABB9-B564-1009-F97F-FA5DB565ED38}"/>
              </a:ext>
            </a:extLst>
          </p:cNvPr>
          <p:cNvSpPr>
            <a:spLocks noChangeAspect="1"/>
          </p:cNvSpPr>
          <p:nvPr/>
        </p:nvSpPr>
        <p:spPr>
          <a:xfrm>
            <a:off x="4696188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Fine-tune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IMU fusion 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Temporal transformer 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Multi-camera setup or 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19" name="limitations card">
            <a:extLst>
              <a:ext uri="{FF2B5EF4-FFF2-40B4-BE49-F238E27FC236}">
                <a16:creationId xmlns:a16="http://schemas.microsoft.com/office/drawing/2014/main" id="{95C8DA4B-6607-3708-86A8-78AB9A21033F}"/>
              </a:ext>
            </a:extLst>
          </p:cNvPr>
          <p:cNvSpPr>
            <a:spLocks noChangeAspect="1"/>
          </p:cNvSpPr>
          <p:nvPr/>
        </p:nvSpPr>
        <p:spPr>
          <a:xfrm>
            <a:off x="4696188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18" name="evaluation of results card">
            <a:extLst>
              <a:ext uri="{FF2B5EF4-FFF2-40B4-BE49-F238E27FC236}">
                <a16:creationId xmlns:a16="http://schemas.microsoft.com/office/drawing/2014/main" id="{C7BCF623-0227-4FCC-FFCC-91CFC3354635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6" name="scale &amp; kinematic analysis card">
            <a:extLst>
              <a:ext uri="{FF2B5EF4-FFF2-40B4-BE49-F238E27FC236}">
                <a16:creationId xmlns:a16="http://schemas.microsoft.com/office/drawing/2014/main" id="{040231C9-D824-7399-DA73-7C660415E712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grpSp>
        <p:nvGrpSpPr>
          <p:cNvPr id="11" name="annotation pipeline card">
            <a:extLst>
              <a:ext uri="{FF2B5EF4-FFF2-40B4-BE49-F238E27FC236}">
                <a16:creationId xmlns:a16="http://schemas.microsoft.com/office/drawing/2014/main" id="{B2985F2C-27C8-8A89-B787-75B1685953DF}"/>
              </a:ext>
            </a:extLst>
          </p:cNvPr>
          <p:cNvGrpSpPr/>
          <p:nvPr/>
        </p:nvGrpSpPr>
        <p:grpSpPr>
          <a:xfrm>
            <a:off x="4391389" y="-4201304"/>
            <a:ext cx="6762019" cy="3803636"/>
            <a:chOff x="4391389" y="1997876"/>
            <a:chExt cx="6762019" cy="380363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7B706F1-6F96-8F6B-F05F-E14A8EF47E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1389" y="1997876"/>
              <a:ext cx="6762019" cy="3803636"/>
            </a:xfrm>
            <a:prstGeom prst="round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0" tIns="360000" rIns="360000" bIns="360000" numCol="1" rtlCol="0" anchor="t"/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problems: </a:t>
              </a:r>
            </a:p>
            <a:p>
              <a:pPr marL="285750" indent="-285750" algn="just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noProof="0" dirty="0"/>
                <a:t>No suitable dataset currently exist</a:t>
              </a:r>
            </a:p>
            <a:p>
              <a:pPr marL="285750" indent="-285750" algn="just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GB" noProof="0" dirty="0"/>
                <a:t>Manual annotation is intractable at scale</a:t>
              </a:r>
            </a:p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GB" b="1" noProof="0" dirty="0"/>
                <a:t>The solution:</a:t>
              </a:r>
            </a:p>
          </p:txBody>
        </p:sp>
        <p:graphicFrame>
          <p:nvGraphicFramePr>
            <p:cNvPr id="14" name="Diagram 13">
              <a:extLst>
                <a:ext uri="{FF2B5EF4-FFF2-40B4-BE49-F238E27FC236}">
                  <a16:creationId xmlns:a16="http://schemas.microsoft.com/office/drawing/2014/main" id="{58354F45-A753-181D-71EA-942FF37BD6B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93774592"/>
                </p:ext>
              </p:extLst>
            </p:nvPr>
          </p:nvGraphicFramePr>
          <p:xfrm>
            <a:off x="4881743" y="4204494"/>
            <a:ext cx="5781310" cy="11501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56187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6E02-0706-AFCC-1ED5-6F62AC0D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C4ABACC8-F728-2ABC-9D6F-9E9BF3212667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9" name="caption card">
            <a:extLst>
              <a:ext uri="{FF2B5EF4-FFF2-40B4-BE49-F238E27FC236}">
                <a16:creationId xmlns:a16="http://schemas.microsoft.com/office/drawing/2014/main" id="{770CE149-075E-3014-EF09-9670043CA668}"/>
              </a:ext>
            </a:extLst>
          </p:cNvPr>
          <p:cNvSpPr>
            <a:spLocks noChangeAspect="1"/>
          </p:cNvSpPr>
          <p:nvPr/>
        </p:nvSpPr>
        <p:spPr>
          <a:xfrm>
            <a:off x="654662" y="3327330"/>
            <a:ext cx="3235230" cy="2778981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Full 50 m trajectory evaluation: Swimmer travels from 0 m to 25 m (outbound) and returns to 0 m.</a:t>
            </a:r>
          </a:p>
          <a:p>
            <a:r>
              <a:rPr lang="en-GB" sz="1700" noProof="0" dirty="0">
                <a:solidFill>
                  <a:schemeClr val="bg1"/>
                </a:solidFill>
              </a:rPr>
              <a:t>Peaks reveal swimmer’s imperfect stroke-cycle exacerbated by tracking error.</a:t>
            </a:r>
          </a:p>
        </p:txBody>
      </p:sp>
      <p:sp>
        <p:nvSpPr>
          <p:cNvPr id="4" name="image card">
            <a:extLst>
              <a:ext uri="{FF2B5EF4-FFF2-40B4-BE49-F238E27FC236}">
                <a16:creationId xmlns:a16="http://schemas.microsoft.com/office/drawing/2014/main" id="{1F16021F-E793-561D-E416-61C0BEC0EB81}"/>
              </a:ext>
            </a:extLst>
          </p:cNvPr>
          <p:cNvSpPr>
            <a:spLocks noChangeAspect="1"/>
          </p:cNvSpPr>
          <p:nvPr/>
        </p:nvSpPr>
        <p:spPr>
          <a:xfrm>
            <a:off x="654661" y="1656176"/>
            <a:ext cx="3234464" cy="1624061"/>
          </a:xfrm>
          <a:prstGeom prst="roundRect">
            <a:avLst>
              <a:gd name="adj" fmla="val 1322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3EF5FA3-327B-7D40-4C37-751FB042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Evaluation of Results</a:t>
            </a:r>
          </a:p>
        </p:txBody>
      </p:sp>
      <p:sp>
        <p:nvSpPr>
          <p:cNvPr id="3" name="replace me" hidden="1">
            <a:extLst>
              <a:ext uri="{FF2B5EF4-FFF2-40B4-BE49-F238E27FC236}">
                <a16:creationId xmlns:a16="http://schemas.microsoft.com/office/drawing/2014/main" id="{A016DF2E-87C9-A456-0B90-159E7BB06216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16" name="future work card">
            <a:extLst>
              <a:ext uri="{FF2B5EF4-FFF2-40B4-BE49-F238E27FC236}">
                <a16:creationId xmlns:a16="http://schemas.microsoft.com/office/drawing/2014/main" id="{CBDC85A9-1F13-B0DB-6E6B-FE7143532891}"/>
              </a:ext>
            </a:extLst>
          </p:cNvPr>
          <p:cNvSpPr>
            <a:spLocks noChangeAspect="1"/>
          </p:cNvSpPr>
          <p:nvPr/>
        </p:nvSpPr>
        <p:spPr>
          <a:xfrm>
            <a:off x="4696188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Fine-tune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IMU fusion 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Temporal transformer 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Multi-camera setup or 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15" name="limitations card">
            <a:extLst>
              <a:ext uri="{FF2B5EF4-FFF2-40B4-BE49-F238E27FC236}">
                <a16:creationId xmlns:a16="http://schemas.microsoft.com/office/drawing/2014/main" id="{6B3B0A2B-471F-B0C7-7C3C-7F9DE70F3786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6" name="evaluation of results card">
            <a:extLst>
              <a:ext uri="{FF2B5EF4-FFF2-40B4-BE49-F238E27FC236}">
                <a16:creationId xmlns:a16="http://schemas.microsoft.com/office/drawing/2014/main" id="{82AF2CE9-0909-6108-44D7-CFBD3CF093E6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8" name="scale &amp; kinematic analysis card">
            <a:extLst>
              <a:ext uri="{FF2B5EF4-FFF2-40B4-BE49-F238E27FC236}">
                <a16:creationId xmlns:a16="http://schemas.microsoft.com/office/drawing/2014/main" id="{D1BE9F6F-9173-3066-F910-1FDB25102B20}"/>
              </a:ext>
            </a:extLst>
          </p:cNvPr>
          <p:cNvSpPr>
            <a:spLocks noChangeAspect="1"/>
          </p:cNvSpPr>
          <p:nvPr/>
        </p:nvSpPr>
        <p:spPr>
          <a:xfrm>
            <a:off x="4391388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24407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8495-3AFD-F96E-FB1A-4A10F519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tion card">
            <a:extLst>
              <a:ext uri="{FF2B5EF4-FFF2-40B4-BE49-F238E27FC236}">
                <a16:creationId xmlns:a16="http://schemas.microsoft.com/office/drawing/2014/main" id="{D056160F-BCD4-F8B0-A615-76A1F4AC13C2}"/>
              </a:ext>
            </a:extLst>
          </p:cNvPr>
          <p:cNvSpPr>
            <a:spLocks noChangeAspect="1"/>
          </p:cNvSpPr>
          <p:nvPr/>
        </p:nvSpPr>
        <p:spPr>
          <a:xfrm>
            <a:off x="266299" y="5508993"/>
            <a:ext cx="11659402" cy="1143000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Full 50 m trajectory evaluation: Swimmer travels from 0 m to 25 m (outbound) and returns to 0 m.</a:t>
            </a:r>
          </a:p>
          <a:p>
            <a:r>
              <a:rPr lang="en-GB" sz="1700" noProof="0" dirty="0">
                <a:solidFill>
                  <a:schemeClr val="bg1"/>
                </a:solidFill>
              </a:rPr>
              <a:t>Peaks reveal swimmer’s </a:t>
            </a:r>
            <a:r>
              <a:rPr lang="en-GB" sz="1700" b="1" noProof="0" dirty="0">
                <a:solidFill>
                  <a:schemeClr val="bg1"/>
                </a:solidFill>
              </a:rPr>
              <a:t>imperfect stroke-cycle </a:t>
            </a:r>
            <a:r>
              <a:rPr lang="en-GB" sz="1700" noProof="0" dirty="0">
                <a:solidFill>
                  <a:schemeClr val="bg1"/>
                </a:solidFill>
              </a:rPr>
              <a:t>exacerbated by tracking error.</a:t>
            </a:r>
          </a:p>
        </p:txBody>
      </p:sp>
      <p:sp>
        <p:nvSpPr>
          <p:cNvPr id="5" name="image card">
            <a:extLst>
              <a:ext uri="{FF2B5EF4-FFF2-40B4-BE49-F238E27FC236}">
                <a16:creationId xmlns:a16="http://schemas.microsoft.com/office/drawing/2014/main" id="{1A7E3F82-E70A-042E-EDD0-E827556C357E}"/>
              </a:ext>
            </a:extLst>
          </p:cNvPr>
          <p:cNvSpPr>
            <a:spLocks noChangeAspect="1"/>
          </p:cNvSpPr>
          <p:nvPr/>
        </p:nvSpPr>
        <p:spPr>
          <a:xfrm>
            <a:off x="933651" y="231504"/>
            <a:ext cx="10324698" cy="5184144"/>
          </a:xfrm>
          <a:prstGeom prst="roundRect">
            <a:avLst>
              <a:gd name="adj" fmla="val 1322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15218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BB1D-FE1B-D6B5-4689-B1058043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B039852E-EF9B-1CEF-7F4D-CA61C3EDE757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9" name="caption card">
            <a:extLst>
              <a:ext uri="{FF2B5EF4-FFF2-40B4-BE49-F238E27FC236}">
                <a16:creationId xmlns:a16="http://schemas.microsoft.com/office/drawing/2014/main" id="{3B478C53-EB44-8FFF-8808-8FCC6052F163}"/>
              </a:ext>
            </a:extLst>
          </p:cNvPr>
          <p:cNvSpPr>
            <a:spLocks noChangeAspect="1"/>
          </p:cNvSpPr>
          <p:nvPr/>
        </p:nvSpPr>
        <p:spPr>
          <a:xfrm>
            <a:off x="654662" y="3327330"/>
            <a:ext cx="3235230" cy="2778981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Full 50 m trajectory evaluation: Swimmer travels from 0 m to 25 m (outbound) and returns to 0 m.</a:t>
            </a:r>
          </a:p>
          <a:p>
            <a:r>
              <a:rPr lang="en-GB" sz="1700" noProof="0" dirty="0">
                <a:solidFill>
                  <a:schemeClr val="bg1"/>
                </a:solidFill>
              </a:rPr>
              <a:t>Peaks reveal swimmer’s imperfect stroke-cycle exacerbated by tracking error.</a:t>
            </a:r>
          </a:p>
        </p:txBody>
      </p:sp>
      <p:sp>
        <p:nvSpPr>
          <p:cNvPr id="4" name="image card">
            <a:extLst>
              <a:ext uri="{FF2B5EF4-FFF2-40B4-BE49-F238E27FC236}">
                <a16:creationId xmlns:a16="http://schemas.microsoft.com/office/drawing/2014/main" id="{1BDA4EC4-AC35-9D75-7BCE-55D949BC71F1}"/>
              </a:ext>
            </a:extLst>
          </p:cNvPr>
          <p:cNvSpPr>
            <a:spLocks noChangeAspect="1"/>
          </p:cNvSpPr>
          <p:nvPr/>
        </p:nvSpPr>
        <p:spPr>
          <a:xfrm>
            <a:off x="654661" y="1656176"/>
            <a:ext cx="3234464" cy="1624061"/>
          </a:xfrm>
          <a:prstGeom prst="roundRect">
            <a:avLst>
              <a:gd name="adj" fmla="val 1322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2762C00-1C40-A137-E2E8-ED65B286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Evaluation of Results</a:t>
            </a:r>
          </a:p>
        </p:txBody>
      </p:sp>
      <p:sp>
        <p:nvSpPr>
          <p:cNvPr id="3" name="replace me" hidden="1">
            <a:extLst>
              <a:ext uri="{FF2B5EF4-FFF2-40B4-BE49-F238E27FC236}">
                <a16:creationId xmlns:a16="http://schemas.microsoft.com/office/drawing/2014/main" id="{984D4796-DA80-A969-5A7B-BA4B0A1589D1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7" name="future work card">
            <a:extLst>
              <a:ext uri="{FF2B5EF4-FFF2-40B4-BE49-F238E27FC236}">
                <a16:creationId xmlns:a16="http://schemas.microsoft.com/office/drawing/2014/main" id="{40B3BC10-89AB-A3BA-1137-C0D0FA7F78F9}"/>
              </a:ext>
            </a:extLst>
          </p:cNvPr>
          <p:cNvSpPr>
            <a:spLocks noChangeAspect="1"/>
          </p:cNvSpPr>
          <p:nvPr/>
        </p:nvSpPr>
        <p:spPr>
          <a:xfrm>
            <a:off x="4696187" y="2302675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Fine-tune</a:t>
            </a:r>
            <a:r>
              <a:rPr lang="en-GB" noProof="0" dirty="0"/>
              <a:t>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IMU fusion </a:t>
            </a:r>
            <a:r>
              <a:rPr lang="en-GB" noProof="0" dirty="0"/>
              <a:t>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Temporal transformer </a:t>
            </a:r>
            <a:r>
              <a:rPr lang="en-GB" noProof="0" dirty="0"/>
              <a:t>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Multi-camera setup </a:t>
            </a:r>
            <a:r>
              <a:rPr lang="en-GB" noProof="0" dirty="0"/>
              <a:t>or </a:t>
            </a:r>
            <a:r>
              <a:rPr lang="en-GB" b="1" noProof="0" dirty="0"/>
              <a:t>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10" name="limitations card">
            <a:extLst>
              <a:ext uri="{FF2B5EF4-FFF2-40B4-BE49-F238E27FC236}">
                <a16:creationId xmlns:a16="http://schemas.microsoft.com/office/drawing/2014/main" id="{502A8ED1-BE31-A35E-B641-34BB7F225406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6" name="evaluation of results card">
            <a:extLst>
              <a:ext uri="{FF2B5EF4-FFF2-40B4-BE49-F238E27FC236}">
                <a16:creationId xmlns:a16="http://schemas.microsoft.com/office/drawing/2014/main" id="{763E00AB-9671-A8CC-D72B-41003B6C88B3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  <p:sp>
        <p:nvSpPr>
          <p:cNvPr id="8" name="scale &amp; kinematic analysis card">
            <a:extLst>
              <a:ext uri="{FF2B5EF4-FFF2-40B4-BE49-F238E27FC236}">
                <a16:creationId xmlns:a16="http://schemas.microsoft.com/office/drawing/2014/main" id="{29D3954B-DB86-D093-AB68-CAF055C888F7}"/>
              </a:ext>
            </a:extLst>
          </p:cNvPr>
          <p:cNvSpPr>
            <a:spLocks noChangeAspect="1"/>
          </p:cNvSpPr>
          <p:nvPr/>
        </p:nvSpPr>
        <p:spPr>
          <a:xfrm>
            <a:off x="4391388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2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Scale Extraction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YOLO marker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MAD inlier filtering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Carry-forward when &lt;2 markers visible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b="1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Kinematics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Ego-motion compensation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</a:t>
            </a:r>
            <a:r>
              <a:rPr lang="en-GB" noProof="0" dirty="0" err="1"/>
              <a:t>keypoints</a:t>
            </a:r>
            <a:endParaRPr lang="en-GB" noProof="0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Kalman Filter,</a:t>
            </a:r>
            <a:r>
              <a:rPr lang="en-GB" noProof="0" dirty="0">
                <a:latin typeface="Montserrat" panose="00000500000000000000" pitchFamily="2" charset="0"/>
              </a:rPr>
              <a:t> loop closure, </a:t>
            </a:r>
            <a:r>
              <a:rPr lang="en-GB" spc="-100" noProof="0" dirty="0" err="1">
                <a:latin typeface="Montserrat" panose="00000500000000000000" pitchFamily="2" charset="0"/>
              </a:rPr>
              <a:t>Savitzky</a:t>
            </a:r>
            <a:r>
              <a:rPr lang="en-GB" spc="-100" noProof="0" dirty="0">
                <a:latin typeface="Montserrat" panose="00000500000000000000" pitchFamily="2" charset="0"/>
              </a:rPr>
              <a:t>-Golay</a:t>
            </a:r>
            <a:endParaRPr lang="en-GB" spc="-100" noProof="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68316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E1CE-885B-D169-EC22-E68E521E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BED213D1-18DB-7540-6C30-5FF10E38D859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8" name="caption card">
            <a:extLst>
              <a:ext uri="{FF2B5EF4-FFF2-40B4-BE49-F238E27FC236}">
                <a16:creationId xmlns:a16="http://schemas.microsoft.com/office/drawing/2014/main" id="{8276EFAF-0BCC-24F4-82FB-06E86350B4A0}"/>
              </a:ext>
            </a:extLst>
          </p:cNvPr>
          <p:cNvSpPr>
            <a:spLocks noChangeAspect="1"/>
          </p:cNvSpPr>
          <p:nvPr/>
        </p:nvSpPr>
        <p:spPr>
          <a:xfrm>
            <a:off x="654662" y="4648200"/>
            <a:ext cx="3235230" cy="1458111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Comparison of marker detection accuracy on seen (left) vs unseen (right) environmental conditions. </a:t>
            </a:r>
          </a:p>
        </p:txBody>
      </p:sp>
      <p:sp>
        <p:nvSpPr>
          <p:cNvPr id="13" name="image card">
            <a:extLst>
              <a:ext uri="{FF2B5EF4-FFF2-40B4-BE49-F238E27FC236}">
                <a16:creationId xmlns:a16="http://schemas.microsoft.com/office/drawing/2014/main" id="{3EDAA68E-B553-371D-8E66-B1006DFD2975}"/>
              </a:ext>
            </a:extLst>
          </p:cNvPr>
          <p:cNvSpPr>
            <a:spLocks noChangeAspect="1"/>
          </p:cNvSpPr>
          <p:nvPr/>
        </p:nvSpPr>
        <p:spPr>
          <a:xfrm>
            <a:off x="654661" y="1656176"/>
            <a:ext cx="3234464" cy="2938684"/>
          </a:xfrm>
          <a:prstGeom prst="roundRect">
            <a:avLst>
              <a:gd name="adj" fmla="val 777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0A5127-0A78-91E9-96B2-F78BF441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Limitations &amp; Future Work</a:t>
            </a:r>
          </a:p>
        </p:txBody>
      </p:sp>
      <p:sp>
        <p:nvSpPr>
          <p:cNvPr id="3" name="replace me" hidden="1">
            <a:extLst>
              <a:ext uri="{FF2B5EF4-FFF2-40B4-BE49-F238E27FC236}">
                <a16:creationId xmlns:a16="http://schemas.microsoft.com/office/drawing/2014/main" id="{2C2EF275-FB23-C22E-5C4B-3C115E28D998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4" name="replace me" hidden="1">
            <a:extLst>
              <a:ext uri="{FF2B5EF4-FFF2-40B4-BE49-F238E27FC236}">
                <a16:creationId xmlns:a16="http://schemas.microsoft.com/office/drawing/2014/main" id="{0827A2E1-9A09-6818-5CD5-DBA64D95A52D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7" name="future work card">
            <a:extLst>
              <a:ext uri="{FF2B5EF4-FFF2-40B4-BE49-F238E27FC236}">
                <a16:creationId xmlns:a16="http://schemas.microsoft.com/office/drawing/2014/main" id="{DF2BE48C-F378-1D5E-C14F-030F76A070D0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Fine-tune</a:t>
            </a:r>
            <a:r>
              <a:rPr lang="en-GB" noProof="0" dirty="0"/>
              <a:t>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IMU fusion </a:t>
            </a:r>
            <a:r>
              <a:rPr lang="en-GB" noProof="0" dirty="0"/>
              <a:t>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Temporal transformer </a:t>
            </a:r>
            <a:r>
              <a:rPr lang="en-GB" noProof="0" dirty="0"/>
              <a:t>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Multi-camera setup </a:t>
            </a:r>
            <a:r>
              <a:rPr lang="en-GB" noProof="0" dirty="0"/>
              <a:t>or </a:t>
            </a:r>
            <a:r>
              <a:rPr lang="en-GB" b="1" noProof="0" dirty="0"/>
              <a:t>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6" name="limitations card">
            <a:extLst>
              <a:ext uri="{FF2B5EF4-FFF2-40B4-BE49-F238E27FC236}">
                <a16:creationId xmlns:a16="http://schemas.microsoft.com/office/drawing/2014/main" id="{8C7E5725-3DDC-7767-4BC0-F4971D455ED5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9" name="evaluation of results card">
            <a:extLst>
              <a:ext uri="{FF2B5EF4-FFF2-40B4-BE49-F238E27FC236}">
                <a16:creationId xmlns:a16="http://schemas.microsoft.com/office/drawing/2014/main" id="{9BBBD741-CC6A-45F9-5EF2-31AF1EDDFEFC}"/>
              </a:ext>
            </a:extLst>
          </p:cNvPr>
          <p:cNvSpPr>
            <a:spLocks noChangeAspect="1"/>
          </p:cNvSpPr>
          <p:nvPr/>
        </p:nvSpPr>
        <p:spPr>
          <a:xfrm>
            <a:off x="4391389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2998659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ECCF-11CE-7119-6110-0809D93C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 card">
            <a:extLst>
              <a:ext uri="{FF2B5EF4-FFF2-40B4-BE49-F238E27FC236}">
                <a16:creationId xmlns:a16="http://schemas.microsoft.com/office/drawing/2014/main" id="{1A06DC6D-655D-A1F8-AD8F-FBEE5CF4A906}"/>
              </a:ext>
            </a:extLst>
          </p:cNvPr>
          <p:cNvSpPr>
            <a:spLocks noChangeAspect="1"/>
          </p:cNvSpPr>
          <p:nvPr/>
        </p:nvSpPr>
        <p:spPr>
          <a:xfrm>
            <a:off x="2179968" y="225057"/>
            <a:ext cx="7832064" cy="5184144"/>
          </a:xfrm>
          <a:prstGeom prst="roundRect">
            <a:avLst>
              <a:gd name="adj" fmla="val 777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3" name="caption card">
            <a:extLst>
              <a:ext uri="{FF2B5EF4-FFF2-40B4-BE49-F238E27FC236}">
                <a16:creationId xmlns:a16="http://schemas.microsoft.com/office/drawing/2014/main" id="{07BA6D22-4A48-2CE2-DFC4-38BAED76633F}"/>
              </a:ext>
            </a:extLst>
          </p:cNvPr>
          <p:cNvSpPr>
            <a:spLocks noChangeAspect="1"/>
          </p:cNvSpPr>
          <p:nvPr/>
        </p:nvSpPr>
        <p:spPr>
          <a:xfrm>
            <a:off x="266299" y="5508993"/>
            <a:ext cx="11659402" cy="1143000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Comparison of marker detection accuracy on seen (left) vs unseen (right) environmental conditions. </a:t>
            </a:r>
          </a:p>
          <a:p>
            <a:r>
              <a:rPr lang="en-GB" sz="1700" noProof="0" dirty="0">
                <a:solidFill>
                  <a:schemeClr val="bg1"/>
                </a:solidFill>
              </a:rPr>
              <a:t>Noticeable drop in recall and precision on frames under unseen environmental conditions (e.g. different lighting).</a:t>
            </a:r>
          </a:p>
        </p:txBody>
      </p:sp>
    </p:spTree>
    <p:extLst>
      <p:ext uri="{BB962C8B-B14F-4D97-AF65-F5344CB8AC3E}">
        <p14:creationId xmlns:p14="http://schemas.microsoft.com/office/powerpoint/2010/main" val="554313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C81B-DB33-FB71-64F8-99F2D9B5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e card">
            <a:extLst>
              <a:ext uri="{FF2B5EF4-FFF2-40B4-BE49-F238E27FC236}">
                <a16:creationId xmlns:a16="http://schemas.microsoft.com/office/drawing/2014/main" id="{6FD59E31-646B-3CD0-E2B3-C3FE20A772D7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8" name="caption card">
            <a:extLst>
              <a:ext uri="{FF2B5EF4-FFF2-40B4-BE49-F238E27FC236}">
                <a16:creationId xmlns:a16="http://schemas.microsoft.com/office/drawing/2014/main" id="{499ABA3C-4478-47FC-A3B9-419958275C09}"/>
              </a:ext>
            </a:extLst>
          </p:cNvPr>
          <p:cNvSpPr>
            <a:spLocks noChangeAspect="1"/>
          </p:cNvSpPr>
          <p:nvPr/>
        </p:nvSpPr>
        <p:spPr>
          <a:xfrm>
            <a:off x="654662" y="4648200"/>
            <a:ext cx="3235230" cy="1458111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Comparison of marker detection accuracy on seen (left) vs unseen (right) environmental conditions. </a:t>
            </a:r>
          </a:p>
        </p:txBody>
      </p:sp>
      <p:sp>
        <p:nvSpPr>
          <p:cNvPr id="13" name="image card">
            <a:extLst>
              <a:ext uri="{FF2B5EF4-FFF2-40B4-BE49-F238E27FC236}">
                <a16:creationId xmlns:a16="http://schemas.microsoft.com/office/drawing/2014/main" id="{1403D00F-F253-F154-5BD4-5E461DD60C2D}"/>
              </a:ext>
            </a:extLst>
          </p:cNvPr>
          <p:cNvSpPr>
            <a:spLocks noChangeAspect="1"/>
          </p:cNvSpPr>
          <p:nvPr/>
        </p:nvSpPr>
        <p:spPr>
          <a:xfrm>
            <a:off x="654661" y="1656176"/>
            <a:ext cx="3234464" cy="2938684"/>
          </a:xfrm>
          <a:prstGeom prst="roundRect">
            <a:avLst>
              <a:gd name="adj" fmla="val 7775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9C11707-C721-3B60-6F8F-F95424E1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Limitations &amp; Future Work</a:t>
            </a:r>
          </a:p>
        </p:txBody>
      </p:sp>
      <p:sp>
        <p:nvSpPr>
          <p:cNvPr id="3" name="replace me" hidden="1">
            <a:extLst>
              <a:ext uri="{FF2B5EF4-FFF2-40B4-BE49-F238E27FC236}">
                <a16:creationId xmlns:a16="http://schemas.microsoft.com/office/drawing/2014/main" id="{B6857032-E566-5697-5C9B-43C674085AAD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4" name="replace me" hidden="1">
            <a:extLst>
              <a:ext uri="{FF2B5EF4-FFF2-40B4-BE49-F238E27FC236}">
                <a16:creationId xmlns:a16="http://schemas.microsoft.com/office/drawing/2014/main" id="{2525101A-42C3-FDF8-E2E1-4140A9A38D72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7" name="future work card">
            <a:extLst>
              <a:ext uri="{FF2B5EF4-FFF2-40B4-BE49-F238E27FC236}">
                <a16:creationId xmlns:a16="http://schemas.microsoft.com/office/drawing/2014/main" id="{3D5D4569-3C62-B86F-65B5-98140E380AC8}"/>
              </a:ext>
            </a:extLst>
          </p:cNvPr>
          <p:cNvSpPr>
            <a:spLocks noChangeAspect="1"/>
          </p:cNvSpPr>
          <p:nvPr/>
        </p:nvSpPr>
        <p:spPr>
          <a:xfrm>
            <a:off x="4543789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Fine-tune</a:t>
            </a:r>
            <a:r>
              <a:rPr lang="en-GB" noProof="0" dirty="0"/>
              <a:t>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IMU fusion </a:t>
            </a:r>
            <a:r>
              <a:rPr lang="en-GB" noProof="0" dirty="0"/>
              <a:t>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Temporal transformer </a:t>
            </a:r>
            <a:r>
              <a:rPr lang="en-GB" noProof="0" dirty="0"/>
              <a:t>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Multi-camera setup </a:t>
            </a:r>
            <a:r>
              <a:rPr lang="en-GB" noProof="0" dirty="0"/>
              <a:t>or </a:t>
            </a:r>
            <a:r>
              <a:rPr lang="en-GB" b="1" noProof="0" dirty="0"/>
              <a:t>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6" name="limitations card">
            <a:extLst>
              <a:ext uri="{FF2B5EF4-FFF2-40B4-BE49-F238E27FC236}">
                <a16:creationId xmlns:a16="http://schemas.microsoft.com/office/drawing/2014/main" id="{E21106E9-9F75-202A-0BE5-4CF62DC988B5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9" name="evaluation of results card">
            <a:extLst>
              <a:ext uri="{FF2B5EF4-FFF2-40B4-BE49-F238E27FC236}">
                <a16:creationId xmlns:a16="http://schemas.microsoft.com/office/drawing/2014/main" id="{6880FA33-9412-CBF5-F129-7D74132834CF}"/>
              </a:ext>
            </a:extLst>
          </p:cNvPr>
          <p:cNvSpPr>
            <a:spLocks noChangeAspect="1"/>
          </p:cNvSpPr>
          <p:nvPr/>
        </p:nvSpPr>
        <p:spPr>
          <a:xfrm>
            <a:off x="4391389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Test: </a:t>
            </a:r>
            <a:r>
              <a:rPr lang="en-GB" noProof="0" dirty="0"/>
              <a:t>single 50 m breaststroke sequence, 18/20 checkpoints recovered.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MAE: 1.005 s </a:t>
            </a:r>
            <a:r>
              <a:rPr lang="en-GB" noProof="0" dirty="0"/>
              <a:t>| </a:t>
            </a:r>
            <a:r>
              <a:rPr lang="en-GB" b="1" noProof="0" dirty="0"/>
              <a:t>RMSE: 1.210 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Peak Speed: 4.96 m/s | Mean Speed: 1.95 m/s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Limitation: </a:t>
            </a:r>
            <a:r>
              <a:rPr lang="en-GB" noProof="0" dirty="0"/>
              <a:t>Heavy outlier filtering required due to noisy </a:t>
            </a:r>
            <a:r>
              <a:rPr lang="en-GB" noProof="0" dirty="0" err="1"/>
              <a:t>keypoints</a:t>
            </a:r>
            <a:r>
              <a:rPr lang="en-GB" noProof="0" dirty="0"/>
              <a:t>. (especially at the water-air boundary)</a:t>
            </a:r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1840531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7182-A507-8C7F-2EBD-7D18B0B4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gure card">
            <a:extLst>
              <a:ext uri="{FF2B5EF4-FFF2-40B4-BE49-F238E27FC236}">
                <a16:creationId xmlns:a16="http://schemas.microsoft.com/office/drawing/2014/main" id="{446E2752-2F84-CD2C-0F69-150E885236E4}"/>
              </a:ext>
            </a:extLst>
          </p:cNvPr>
          <p:cNvSpPr>
            <a:spLocks noChangeAspect="1"/>
          </p:cNvSpPr>
          <p:nvPr/>
        </p:nvSpPr>
        <p:spPr>
          <a:xfrm>
            <a:off x="457200" y="1417638"/>
            <a:ext cx="3630155" cy="4830762"/>
          </a:xfrm>
          <a:prstGeom prst="roundRect">
            <a:avLst>
              <a:gd name="adj" fmla="val 1322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5" name="caption card">
            <a:extLst>
              <a:ext uri="{FF2B5EF4-FFF2-40B4-BE49-F238E27FC236}">
                <a16:creationId xmlns:a16="http://schemas.microsoft.com/office/drawing/2014/main" id="{7DBDF383-C56A-A5C0-FECB-F97BD286DAB0}"/>
              </a:ext>
            </a:extLst>
          </p:cNvPr>
          <p:cNvSpPr>
            <a:spLocks noChangeAspect="1"/>
          </p:cNvSpPr>
          <p:nvPr/>
        </p:nvSpPr>
        <p:spPr>
          <a:xfrm>
            <a:off x="654662" y="3327331"/>
            <a:ext cx="3235230" cy="2626582"/>
          </a:xfrm>
          <a:prstGeom prst="roundRect">
            <a:avLst>
              <a:gd name="adj" fmla="val 9714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t"/>
          <a:lstStyle/>
          <a:p>
            <a:r>
              <a:rPr lang="en-GB" sz="1700" noProof="0" dirty="0">
                <a:solidFill>
                  <a:schemeClr val="bg1"/>
                </a:solidFill>
              </a:rPr>
              <a:t>Manually annotated </a:t>
            </a:r>
            <a:r>
              <a:rPr lang="en-GB" sz="1700" noProof="0" dirty="0" err="1">
                <a:solidFill>
                  <a:schemeClr val="bg1"/>
                </a:solidFill>
              </a:rPr>
              <a:t>keypoints</a:t>
            </a:r>
            <a:r>
              <a:rPr lang="en-GB" sz="1700" noProof="0" dirty="0">
                <a:solidFill>
                  <a:schemeClr val="bg1"/>
                </a:solidFill>
              </a:rPr>
              <a:t> example on underwater swimming footage.</a:t>
            </a:r>
          </a:p>
        </p:txBody>
      </p:sp>
      <p:sp>
        <p:nvSpPr>
          <p:cNvPr id="9" name="image card">
            <a:extLst>
              <a:ext uri="{FF2B5EF4-FFF2-40B4-BE49-F238E27FC236}">
                <a16:creationId xmlns:a16="http://schemas.microsoft.com/office/drawing/2014/main" id="{CA71A465-9FC6-A1C1-BF08-7F58AE1FAEC0}"/>
              </a:ext>
            </a:extLst>
          </p:cNvPr>
          <p:cNvSpPr>
            <a:spLocks noChangeAspect="1"/>
          </p:cNvSpPr>
          <p:nvPr/>
        </p:nvSpPr>
        <p:spPr>
          <a:xfrm>
            <a:off x="654661" y="1656176"/>
            <a:ext cx="3234464" cy="1624061"/>
          </a:xfrm>
          <a:prstGeom prst="roundRect">
            <a:avLst>
              <a:gd name="adj" fmla="val 13220"/>
            </a:avLst>
          </a:prstGeom>
          <a:blipFill dpi="0" rotWithShape="1">
            <a:blip r:embed="rId3"/>
            <a:srcRect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t"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GB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F562BB-24A7-BD24-C210-319E7CA0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Limitations &amp; Future Work</a:t>
            </a:r>
          </a:p>
        </p:txBody>
      </p:sp>
      <p:sp>
        <p:nvSpPr>
          <p:cNvPr id="3" name="replace me" hidden="1">
            <a:extLst>
              <a:ext uri="{FF2B5EF4-FFF2-40B4-BE49-F238E27FC236}">
                <a16:creationId xmlns:a16="http://schemas.microsoft.com/office/drawing/2014/main" id="{61B8A2B8-4B1E-75AD-3EE2-1E2FC6AA9D20}"/>
              </a:ext>
            </a:extLst>
          </p:cNvPr>
          <p:cNvSpPr>
            <a:spLocks noChangeAspect="1"/>
          </p:cNvSpPr>
          <p:nvPr/>
        </p:nvSpPr>
        <p:spPr>
          <a:xfrm>
            <a:off x="4696189" y="23026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11" name="replace me" hidden="1">
            <a:extLst>
              <a:ext uri="{FF2B5EF4-FFF2-40B4-BE49-F238E27FC236}">
                <a16:creationId xmlns:a16="http://schemas.microsoft.com/office/drawing/2014/main" id="{94B0AA86-0626-DC21-7752-4AFA231A5B1D}"/>
              </a:ext>
            </a:extLst>
          </p:cNvPr>
          <p:cNvSpPr>
            <a:spLocks noChangeAspect="1"/>
          </p:cNvSpPr>
          <p:nvPr/>
        </p:nvSpPr>
        <p:spPr>
          <a:xfrm>
            <a:off x="4543787" y="21502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en-GB" noProof="0" dirty="0"/>
          </a:p>
        </p:txBody>
      </p:sp>
      <p:sp>
        <p:nvSpPr>
          <p:cNvPr id="6" name="future work card">
            <a:extLst>
              <a:ext uri="{FF2B5EF4-FFF2-40B4-BE49-F238E27FC236}">
                <a16:creationId xmlns:a16="http://schemas.microsoft.com/office/drawing/2014/main" id="{B6A82D56-C6DF-E04D-5D9E-F35B26E6F918}"/>
              </a:ext>
            </a:extLst>
          </p:cNvPr>
          <p:cNvSpPr>
            <a:spLocks noChangeAspect="1"/>
          </p:cNvSpPr>
          <p:nvPr/>
        </p:nvSpPr>
        <p:spPr>
          <a:xfrm>
            <a:off x="4391389" y="1997876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Fine-tune</a:t>
            </a:r>
            <a:r>
              <a:rPr lang="en-GB" noProof="0" dirty="0"/>
              <a:t>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IMU fusion </a:t>
            </a:r>
            <a:r>
              <a:rPr lang="en-GB" noProof="0" dirty="0"/>
              <a:t>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Temporal transformer </a:t>
            </a:r>
            <a:r>
              <a:rPr lang="en-GB" noProof="0" dirty="0"/>
              <a:t>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Multi-camera setup </a:t>
            </a:r>
            <a:r>
              <a:rPr lang="en-GB" noProof="0" dirty="0"/>
              <a:t>or </a:t>
            </a:r>
            <a:r>
              <a:rPr lang="en-GB" b="1" noProof="0" dirty="0"/>
              <a:t>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8" name="limitations card">
            <a:extLst>
              <a:ext uri="{FF2B5EF4-FFF2-40B4-BE49-F238E27FC236}">
                <a16:creationId xmlns:a16="http://schemas.microsoft.com/office/drawing/2014/main" id="{9BCF7029-05FD-0669-460B-7D6CE3911110}"/>
              </a:ext>
            </a:extLst>
          </p:cNvPr>
          <p:cNvSpPr>
            <a:spLocks noChangeAspect="1"/>
          </p:cNvSpPr>
          <p:nvPr/>
        </p:nvSpPr>
        <p:spPr>
          <a:xfrm>
            <a:off x="4391389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Limitations: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 pool environment; domain shift on unseen footage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 err="1"/>
              <a:t>ViTPose</a:t>
            </a:r>
            <a:r>
              <a:rPr lang="en-GB" noProof="0" dirty="0"/>
              <a:t> trained on terrestrial COCO (confidence collapse at distal joints)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Monocular (planar motion assumption)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Single-observer ground truths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3715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5BBD87-70A5-C347-18A3-18AB293A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Conclusion</a:t>
            </a:r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A7AC49E1-D31D-0654-BC18-951FF4552E1E}"/>
              </a:ext>
            </a:extLst>
          </p:cNvPr>
          <p:cNvSpPr>
            <a:spLocks noChangeAspect="1"/>
          </p:cNvSpPr>
          <p:nvPr/>
        </p:nvSpPr>
        <p:spPr>
          <a:xfrm>
            <a:off x="2338840" y="4125911"/>
            <a:ext cx="3438525" cy="1685925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Ins="180000" bIns="180000" numCol="1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EFAE0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3D-printed markers for scale</a:t>
            </a:r>
          </a:p>
        </p:txBody>
      </p:sp>
      <p:sp>
        <p:nvSpPr>
          <p:cNvPr id="7" name="point 3">
            <a:extLst>
              <a:ext uri="{FF2B5EF4-FFF2-40B4-BE49-F238E27FC236}">
                <a16:creationId xmlns:a16="http://schemas.microsoft.com/office/drawing/2014/main" id="{3CA0F3E9-A7E8-995E-702B-3563B3A1B84E}"/>
              </a:ext>
            </a:extLst>
          </p:cNvPr>
          <p:cNvSpPr>
            <a:spLocks noChangeAspect="1"/>
          </p:cNvSpPr>
          <p:nvPr/>
        </p:nvSpPr>
        <p:spPr>
          <a:xfrm>
            <a:off x="6450127" y="4125913"/>
            <a:ext cx="3438525" cy="1685925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Ins="180000" bIns="180000" numCol="1" rtlCol="0" anchor="ctr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noProof="0" dirty="0">
                <a:latin typeface="+mj-lt"/>
              </a:rPr>
              <a:t>Accessible, lower-cost biomechanics</a:t>
            </a:r>
          </a:p>
        </p:txBody>
      </p:sp>
      <p:sp>
        <p:nvSpPr>
          <p:cNvPr id="5" name="point 2">
            <a:extLst>
              <a:ext uri="{FF2B5EF4-FFF2-40B4-BE49-F238E27FC236}">
                <a16:creationId xmlns:a16="http://schemas.microsoft.com/office/drawing/2014/main" id="{2B29B393-9F5B-A558-E0F5-3336F6E69E0A}"/>
              </a:ext>
            </a:extLst>
          </p:cNvPr>
          <p:cNvSpPr>
            <a:spLocks noChangeAspect="1"/>
          </p:cNvSpPr>
          <p:nvPr/>
        </p:nvSpPr>
        <p:spPr>
          <a:xfrm>
            <a:off x="6450128" y="2066923"/>
            <a:ext cx="3438524" cy="1685928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Ins="180000" bIns="180000" numCol="1" rtlCol="0" anchor="ctr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noProof="0" dirty="0">
                <a:latin typeface="+mj-lt"/>
              </a:rPr>
              <a:t>MITL pipeline</a:t>
            </a:r>
          </a:p>
        </p:txBody>
      </p:sp>
      <p:sp>
        <p:nvSpPr>
          <p:cNvPr id="6" name="point 1">
            <a:extLst>
              <a:ext uri="{FF2B5EF4-FFF2-40B4-BE49-F238E27FC236}">
                <a16:creationId xmlns:a16="http://schemas.microsoft.com/office/drawing/2014/main" id="{7FE3072E-49B4-5074-1193-15EB8BFC8FF4}"/>
              </a:ext>
            </a:extLst>
          </p:cNvPr>
          <p:cNvSpPr>
            <a:spLocks noChangeAspect="1"/>
          </p:cNvSpPr>
          <p:nvPr/>
        </p:nvSpPr>
        <p:spPr>
          <a:xfrm>
            <a:off x="2319793" y="2066925"/>
            <a:ext cx="3438525" cy="168592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0" tIns="180000" rIns="180000" bIns="180000" numCol="1" rtlCol="0" anchor="ctr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noProof="0" dirty="0">
                <a:latin typeface="+mj-lt"/>
              </a:rPr>
              <a:t>Suitable for coaching technique</a:t>
            </a:r>
          </a:p>
        </p:txBody>
      </p:sp>
      <p:sp>
        <p:nvSpPr>
          <p:cNvPr id="12" name="future work card">
            <a:extLst>
              <a:ext uri="{FF2B5EF4-FFF2-40B4-BE49-F238E27FC236}">
                <a16:creationId xmlns:a16="http://schemas.microsoft.com/office/drawing/2014/main" id="{A2689472-7A40-7429-980E-271CC1616702}"/>
              </a:ext>
            </a:extLst>
          </p:cNvPr>
          <p:cNvSpPr>
            <a:spLocks noChangeAspect="1"/>
          </p:cNvSpPr>
          <p:nvPr/>
        </p:nvSpPr>
        <p:spPr>
          <a:xfrm>
            <a:off x="4391389" y="-4201304"/>
            <a:ext cx="6762019" cy="3803636"/>
          </a:xfrm>
          <a:prstGeom prst="round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0" tIns="360000" rIns="360000" bIns="360000" numCol="1" rtlCol="0" anchor="t"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b="1" noProof="0" dirty="0"/>
              <a:t>Future Work: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Fine-tune</a:t>
            </a:r>
            <a:r>
              <a:rPr lang="en-GB" noProof="0" dirty="0"/>
              <a:t> </a:t>
            </a:r>
            <a:r>
              <a:rPr lang="en-GB" noProof="0" dirty="0" err="1"/>
              <a:t>ViTPose</a:t>
            </a:r>
            <a:r>
              <a:rPr lang="en-GB" noProof="0" dirty="0"/>
              <a:t> on aquatic domain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IMU fusion </a:t>
            </a:r>
            <a:r>
              <a:rPr lang="en-GB" noProof="0" dirty="0"/>
              <a:t>for marker-loss intervals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Temporal transformer </a:t>
            </a:r>
            <a:r>
              <a:rPr lang="en-GB" noProof="0" dirty="0"/>
              <a:t>for inter-frame coherence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noProof="0" dirty="0"/>
              <a:t>Multi-camera setup </a:t>
            </a:r>
            <a:r>
              <a:rPr lang="en-GB" noProof="0" dirty="0"/>
              <a:t>or </a:t>
            </a:r>
            <a:r>
              <a:rPr lang="en-GB" b="1" noProof="0" dirty="0"/>
              <a:t>depth estimation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8607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Daniel Dark mode">
      <a:dk1>
        <a:srgbClr val="1A1C1A"/>
      </a:dk1>
      <a:lt1>
        <a:srgbClr val="FEFAE0"/>
      </a:lt1>
      <a:dk2>
        <a:srgbClr val="2C302C"/>
      </a:dk2>
      <a:lt2>
        <a:srgbClr val="B7B7A4"/>
      </a:lt2>
      <a:accent1>
        <a:srgbClr val="D4A373"/>
      </a:accent1>
      <a:accent2>
        <a:srgbClr val="606C38"/>
      </a:accent2>
      <a:accent3>
        <a:srgbClr val="DDA15E"/>
      </a:accent3>
      <a:accent4>
        <a:srgbClr val="A3B18A"/>
      </a:accent4>
      <a:accent5>
        <a:srgbClr val="BC6C25"/>
      </a:accent5>
      <a:accent6>
        <a:srgbClr val="F79646"/>
      </a:accent6>
      <a:hlink>
        <a:srgbClr val="D4A373"/>
      </a:hlink>
      <a:folHlink>
        <a:srgbClr val="606C38"/>
      </a:folHlink>
    </a:clrScheme>
    <a:fontScheme name="Daniel Fonts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3275</Words>
  <Application>Microsoft Office PowerPoint</Application>
  <PresentationFormat>Widescreen</PresentationFormat>
  <Paragraphs>568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Lato Black</vt:lpstr>
      <vt:lpstr>Montserrat</vt:lpstr>
      <vt:lpstr>Montserrat ExtraBold</vt:lpstr>
      <vt:lpstr>Office Theme</vt:lpstr>
      <vt:lpstr>PowerPoint Presentation</vt:lpstr>
      <vt:lpstr>Chapters</vt:lpstr>
      <vt:lpstr>Introduction</vt:lpstr>
      <vt:lpstr>Aims &amp; Objectives</vt:lpstr>
      <vt:lpstr>Marker Design</vt:lpstr>
      <vt:lpstr>Annotation Pipeline</vt:lpstr>
      <vt:lpstr>Scale &amp; Kinematic Analysis</vt:lpstr>
      <vt:lpstr>PowerPoint Presentation</vt:lpstr>
      <vt:lpstr>Scale &amp; Kinematic Analysis</vt:lpstr>
      <vt:lpstr>Evaluation of Results</vt:lpstr>
      <vt:lpstr>PowerPoint Presentation</vt:lpstr>
      <vt:lpstr>Evaluation of Results</vt:lpstr>
      <vt:lpstr>Limitations &amp; Future Work</vt:lpstr>
      <vt:lpstr>PowerPoint Presentation</vt:lpstr>
      <vt:lpstr>Limitations &amp; Future Work</vt:lpstr>
      <vt:lpstr>Limitations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pace</dc:creator>
  <cp:keywords/>
  <dc:description>generated using python-pptx</dc:description>
  <cp:lastModifiedBy>daniel pace</cp:lastModifiedBy>
  <cp:revision>10</cp:revision>
  <cp:lastPrinted>2026-06-12T09:38:36Z</cp:lastPrinted>
  <dcterms:created xsi:type="dcterms:W3CDTF">2013-01-27T09:14:16Z</dcterms:created>
  <dcterms:modified xsi:type="dcterms:W3CDTF">2026-06-15T14:51:46Z</dcterms:modified>
  <cp:category/>
</cp:coreProperties>
</file>